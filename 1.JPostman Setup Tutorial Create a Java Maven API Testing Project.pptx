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956271E7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2" r:id="rId5"/>
    <p:sldId id="263" r:id="rId6"/>
    <p:sldId id="261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62174D-69C6-9ED2-6197-07020E891F12}" name="David Gofman" initials="DG" userId="5259373e58768a7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3F6"/>
    <a:srgbClr val="2A00FF"/>
    <a:srgbClr val="070504"/>
    <a:srgbClr val="950055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02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modernComment_100_956271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5B1845-E716-437D-BBF7-36E3E0428782}" authorId="{E862174D-69C6-9ED2-6197-07020E891F12}" created="2026-05-23T01:39:06.878">
    <pc:sldMkLst xmlns:pc="http://schemas.microsoft.com/office/powerpoint/2013/main/command">
      <pc:docMk/>
      <pc:sldMk cId="2506256871" sldId="256"/>
    </pc:sldMkLst>
    <p188:pos x="11668125" y="6026150"/>
    <p188:replyLst>
      <p188:reply id="{11257296-3FF7-4C28-BD1D-9EFEC095913C}" authorId="{E862174D-69C6-9ED2-6197-07020E891F12}" created="2026-05-23T01:43:47.735">
        <p188:txBody>
          <a:bodyPr/>
          <a:lstStyle/>
          <a:p>
            <a:r>
              <a:rPr lang="en-US"/>
              <a:t>Language: English (United States)
Voice: Derek Multilingual
Emotion: Empathetic
Vocal pitch: Default</a:t>
            </a:r>
          </a:p>
        </p188:txBody>
      </p188:reply>
    </p188:replyLst>
    <p188:txBody>
      <a:bodyPr/>
      <a:lstStyle/>
      <a:p>
        <a:r>
          <a:rPr lang="en-US"/>
          <a:t>https://app.clipchamp.com/consumer/editor/?feature=voiceover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5-23T01:43:27.356" authorId="{E862174D-69C6-9ED2-6197-07020E891F12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BD764-37BC-4840-BB41-74D4F927F79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7B6D0-CC60-4178-91F2-D40E75684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47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3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7B6D0-CC60-4178-91F2-D40E75684C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5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A561A6FC-F296-C2CD-3FA6-B17CA9042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461" y="38099"/>
            <a:ext cx="822960" cy="9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5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5B589D1F-61D3-4F24-B9B6-6B67D1CA8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461" y="38099"/>
            <a:ext cx="822960" cy="96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1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9316-D952-8024-D6FF-C5E6BAC6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03D3A-8E8B-D118-B1F7-BDED89C2E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45045-5F31-80CE-3541-50F4996B8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C2E8A-C004-C456-AC13-47C728E18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D5AEB-B128-88B1-D202-A3EB85A8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1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A3B0-A11E-E4F9-2858-5CA1C513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E6C5F-B87E-1434-4ACD-976FB313D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01D77-E50A-7517-0C77-FC9769C1B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1020F-566E-1CDA-5C08-4E4D6B3A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D9E70-19B0-78EC-8FB4-B133D45A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3A80-5180-A80B-240B-49DF854B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6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9C55-B013-C811-2E7F-2499AE8E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2485B-357F-008A-01CF-6848CF3ED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6B05-8C17-0C30-9E59-53AEFB65E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AE6024-19D3-49C9-FA47-F6FB67C33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19170-892F-B124-7F00-FB7534B1C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128CC-F5BD-48EA-0468-C70E9724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AFB47-B3DB-581D-61CC-972C47DA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68122-60E3-9485-9DCB-91F752CB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0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1912-974F-9CAE-3821-E2C62D85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3EBC5-F207-B92E-22FB-6E82BA1C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60B9E-F26F-EB1A-99AB-9EAA5DE7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D8A50-7366-5030-CBEF-038429CEA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5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EEBE9-F489-6D57-5B58-DC608C03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ED2E6-4626-8853-12CB-FA809685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349C4-4174-8D91-48B8-C20EF329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6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6E33-3702-CF5B-BF8D-2FBF81521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CFFCE-6DE2-4E9F-153F-79C85F4C7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7CD24-B6BB-478B-A24A-BACB97684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5D694-DD22-6353-F200-AEC674BA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FC588-A532-BE13-EF9D-5C27CB21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EFA5-516D-549B-CC1A-FB5215CE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5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DF34-EBDC-4133-CA71-8EDB81571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C745C-BE8B-5E35-B8AA-839781E94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7BCA5-0AE2-B306-869A-FFB0FCB99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9148-6F79-FE03-10FE-6994F613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D249-7719-63CE-7C1F-719F50DD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CD3A3-B68D-5872-86B7-66DAE1A4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1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5852-9EF4-CF12-7E9C-D7743F42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885A-53E2-2EC8-F478-C85A3ACD0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94E2-A04B-E3F1-17CA-89717579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A53B2-40D4-7FCC-A27B-FD8E7FEA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8A954-8032-9FC0-FF61-894DD9F1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2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32CC0-A58F-4F32-E4F7-C9E3095F3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D1F56-103E-CD0F-2E02-3E25F7CEA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72EF4-EBE3-F2A9-1B96-3442F543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C04C-FD93-6CD7-61C0-958DC680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997E2-50BF-1618-682E-2255B4BC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4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DDD45-36A5-8419-C192-284685306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D22EE-7F8D-EAD3-1E79-BAF66CF6B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DF98-D28D-17AC-CE27-584D1E9EA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3A11A1-CC71-4413-B634-BC7EFB14F7B3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FE6CA-3B4F-64BE-8E91-6E2A969B6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36112-7988-E5F9-59AE-83A1ED4CD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C62C9-AB25-418E-8160-A18487BEC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18/10/relationships/comments" Target="../comments/modernComment_100_956271E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sv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4.sv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svg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5" Type="http://schemas.openxmlformats.org/officeDocument/2006/relationships/image" Target="../media/image3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creenshot">
            <a:extLst>
              <a:ext uri="{FF2B5EF4-FFF2-40B4-BE49-F238E27FC236}">
                <a16:creationId xmlns:a16="http://schemas.microsoft.com/office/drawing/2014/main" id="{BD9D38B4-842C-0120-D734-796C6BEC2D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505" y="0"/>
            <a:ext cx="9972989" cy="6858000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76421" y="5754999"/>
            <a:ext cx="5879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 this tutorial, we will use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, a lightweight Java library for reusing exported Postman </a:t>
            </a:r>
            <a:r>
              <a:rPr lang="en-US" b="1" dirty="0">
                <a:solidFill>
                  <a:schemeClr val="accent1"/>
                </a:solidFill>
              </a:rPr>
              <a:t>collections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environments</a:t>
            </a:r>
            <a:r>
              <a:rPr lang="en-US" dirty="0">
                <a:solidFill>
                  <a:schemeClr val="accent1"/>
                </a:solidFill>
              </a:rPr>
              <a:t> in Java API tests.</a:t>
            </a:r>
          </a:p>
        </p:txBody>
      </p:sp>
      <p:pic>
        <p:nvPicPr>
          <p:cNvPr id="8" name="1">
            <a:hlinkClick r:id="" action="ppaction://media"/>
            <a:extLst>
              <a:ext uri="{FF2B5EF4-FFF2-40B4-BE49-F238E27FC236}">
                <a16:creationId xmlns:a16="http://schemas.microsoft.com/office/drawing/2014/main" id="{FFC8491F-D726-D422-EBC5-50B56E4BE2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96675" y="609730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56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9225">
        <p:cut/>
      </p:transition>
    </mc:Choice>
    <mc:Fallback>
      <p:transition advClick="0" advTm="9225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0" objId="8"/>
        <p14:stopEvt time="9027" objId="8"/>
      </p14:showEvtLst>
    </p:ext>
    <p:ext uri="{6950BFC3-D8DA-4A85-94F7-54DA5524770B}">
      <p188:commentRel xmlns:p188="http://schemas.microsoft.com/office/powerpoint/2018/8/main" r:id="rId4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creenshot">
            <a:extLst>
              <a:ext uri="{FF2B5EF4-FFF2-40B4-BE49-F238E27FC236}">
                <a16:creationId xmlns:a16="http://schemas.microsoft.com/office/drawing/2014/main" id="{BD9D38B4-842C-0120-D734-796C6BEC2D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505" y="0"/>
            <a:ext cx="9972989" cy="6858000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76421" y="5754999"/>
            <a:ext cx="5879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You can review the project documentation and examples on GitHub at </a:t>
            </a:r>
            <a:r>
              <a:rPr lang="en-US" b="1" dirty="0">
                <a:solidFill>
                  <a:schemeClr val="accent1"/>
                </a:solidFill>
              </a:rPr>
              <a:t>github.com/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b="1" dirty="0">
                <a:solidFill>
                  <a:schemeClr val="accent1"/>
                </a:solidFill>
              </a:rPr>
              <a:t>/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6" name="2">
            <a:hlinkClick r:id="" action="ppaction://media"/>
            <a:extLst>
              <a:ext uri="{FF2B5EF4-FFF2-40B4-BE49-F238E27FC236}">
                <a16:creationId xmlns:a16="http://schemas.microsoft.com/office/drawing/2014/main" id="{6D882688-937B-4906-48BF-74FC0C63F4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9525" y="60972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84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7037">
        <p:cut/>
      </p:transition>
    </mc:Choice>
    <mc:Fallback>
      <p:transition advClick="0" advTm="7037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1" objId="6"/>
        <p14:stopEvt time="6844" objId="6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shot">
            <a:extLst>
              <a:ext uri="{FF2B5EF4-FFF2-40B4-BE49-F238E27FC236}">
                <a16:creationId xmlns:a16="http://schemas.microsoft.com/office/drawing/2014/main" id="{F54EB340-A2FC-F533-A030-C98898B00D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85800" y="-351393"/>
            <a:ext cx="14158573" cy="9736248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7185" y="5468672"/>
            <a:ext cx="5879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After opening </a:t>
            </a:r>
            <a:r>
              <a:rPr lang="en-US" b="1" dirty="0">
                <a:solidFill>
                  <a:schemeClr val="accent1"/>
                </a:solidFill>
              </a:rPr>
              <a:t>Postman</a:t>
            </a:r>
            <a:r>
              <a:rPr lang="en-US" dirty="0">
                <a:solidFill>
                  <a:schemeClr val="accent1"/>
                </a:solidFill>
              </a:rPr>
              <a:t>, we will review a simple API collection based on </a:t>
            </a:r>
            <a:r>
              <a:rPr lang="en-US" b="1" dirty="0" err="1">
                <a:solidFill>
                  <a:schemeClr val="accent1"/>
                </a:solidFill>
              </a:rPr>
              <a:t>DummyJSON</a:t>
            </a:r>
            <a:r>
              <a:rPr lang="en-US" dirty="0">
                <a:solidFill>
                  <a:schemeClr val="accent1"/>
                </a:solidFill>
              </a:rPr>
              <a:t>, a free fake REST API that provides placeholder JSON data for development, testing, and prototyping.</a:t>
            </a:r>
          </a:p>
        </p:txBody>
      </p:sp>
      <p:pic>
        <p:nvPicPr>
          <p:cNvPr id="6" name="3">
            <a:hlinkClick r:id="" action="ppaction://media"/>
            <a:extLst>
              <a:ext uri="{FF2B5EF4-FFF2-40B4-BE49-F238E27FC236}">
                <a16:creationId xmlns:a16="http://schemas.microsoft.com/office/drawing/2014/main" id="{D76F0731-8429-E1DC-6E68-29CCEAFB3F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30000" y="606883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24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1729">
        <p159:morph option="byObject"/>
      </p:transition>
    </mc:Choice>
    <mc:Fallback>
      <p:transition spd="slow" advClick="0" advTm="1172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0" objId="6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shot">
            <a:extLst>
              <a:ext uri="{FF2B5EF4-FFF2-40B4-BE49-F238E27FC236}">
                <a16:creationId xmlns:a16="http://schemas.microsoft.com/office/drawing/2014/main" id="{F54EB340-A2FC-F533-A030-C98898B00D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85800" y="-351393"/>
            <a:ext cx="14158573" cy="9736248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7185" y="5468672"/>
            <a:ext cx="5879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Here we have a Postman collection named </a:t>
            </a:r>
            <a:r>
              <a:rPr lang="en-US" b="1" dirty="0" err="1">
                <a:solidFill>
                  <a:schemeClr val="accent1"/>
                </a:solidFill>
              </a:rPr>
              <a:t>DummyJSON</a:t>
            </a:r>
            <a:r>
              <a:rPr lang="en-US" dirty="0">
                <a:solidFill>
                  <a:schemeClr val="accent1"/>
                </a:solidFill>
              </a:rPr>
              <a:t>. It contains example requests such as login, getting the current authenticated user, product APIs, and dynamic image APIs.</a:t>
            </a:r>
          </a:p>
        </p:txBody>
      </p:sp>
      <p:pic>
        <p:nvPicPr>
          <p:cNvPr id="6" name="4">
            <a:hlinkClick r:id="" action="ppaction://media"/>
            <a:extLst>
              <a:ext uri="{FF2B5EF4-FFF2-40B4-BE49-F238E27FC236}">
                <a16:creationId xmlns:a16="http://schemas.microsoft.com/office/drawing/2014/main" id="{B2E17B57-7196-08BE-A425-0059ADDE9A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82375" y="6181725"/>
            <a:ext cx="609600" cy="609600"/>
          </a:xfrm>
          <a:prstGeom prst="rect">
            <a:avLst/>
          </a:prstGeom>
        </p:spPr>
      </p:pic>
      <p:pic>
        <p:nvPicPr>
          <p:cNvPr id="7" name="Arrow Move" descr="Cursor with solid fill">
            <a:extLst>
              <a:ext uri="{FF2B5EF4-FFF2-40B4-BE49-F238E27FC236}">
                <a16:creationId xmlns:a16="http://schemas.microsoft.com/office/drawing/2014/main" id="{21A67CF5-D3BF-E846-C085-3B727CF2C85A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816918">
            <a:off x="1488567" y="1391033"/>
            <a:ext cx="3333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47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2092">
        <p159:morph option="byObject"/>
      </p:transition>
    </mc:Choice>
    <mc:Fallback>
      <p:transition spd="slow" advClick="0" advTm="1209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1 -4.81481E-6 L 0.06068 0.0011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39" y="4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1" objId="6"/>
        <p14:stopEvt time="11913" objId="6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shot1">
            <a:extLst>
              <a:ext uri="{FF2B5EF4-FFF2-40B4-BE49-F238E27FC236}">
                <a16:creationId xmlns:a16="http://schemas.microsoft.com/office/drawing/2014/main" id="{F54EB340-A2FC-F533-A030-C98898B00D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-351393"/>
            <a:ext cx="14158573" cy="9736248"/>
          </a:xfrm>
          <a:prstGeom prst="rect">
            <a:avLst/>
          </a:prstGeom>
        </p:spPr>
      </p:pic>
      <p:pic>
        <p:nvPicPr>
          <p:cNvPr id="7" name="Screenshot2">
            <a:extLst>
              <a:ext uri="{FF2B5EF4-FFF2-40B4-BE49-F238E27FC236}">
                <a16:creationId xmlns:a16="http://schemas.microsoft.com/office/drawing/2014/main" id="{763887E9-8CF2-DC89-B0EE-2B282F54F4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505" y="0"/>
            <a:ext cx="9972989" cy="6858000"/>
          </a:xfrm>
          <a:prstGeom prst="rect">
            <a:avLst/>
          </a:prstGeom>
        </p:spPr>
      </p:pic>
      <p:pic>
        <p:nvPicPr>
          <p:cNvPr id="6" name="Arrow Move" descr="Cursor with solid fill">
            <a:extLst>
              <a:ext uri="{FF2B5EF4-FFF2-40B4-BE49-F238E27FC236}">
                <a16:creationId xmlns:a16="http://schemas.microsoft.com/office/drawing/2014/main" id="{6E5EA81C-F0F1-13EE-ADB7-EBBF0D50D48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816918">
            <a:off x="1917192" y="2876931"/>
            <a:ext cx="333375" cy="333375"/>
          </a:xfrm>
          <a:prstGeom prst="rect">
            <a:avLst/>
          </a:prstGeom>
        </p:spPr>
      </p:pic>
      <p:sp>
        <p:nvSpPr>
          <p:cNvPr id="10" name="Caption">
            <a:extLst>
              <a:ext uri="{FF2B5EF4-FFF2-40B4-BE49-F238E27FC236}">
                <a16:creationId xmlns:a16="http://schemas.microsoft.com/office/drawing/2014/main" id="{6BA6F5F3-BD49-3253-886B-0BE67CA6457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67185" y="5525822"/>
            <a:ext cx="5879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Before running the requests, let’s review the environment I created for testing. The environment stores variables such as </a:t>
            </a:r>
            <a:r>
              <a:rPr lang="en-US" b="1" dirty="0" err="1">
                <a:solidFill>
                  <a:schemeClr val="accent1"/>
                </a:solidFill>
              </a:rPr>
              <a:t>base_url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1"/>
                </a:solidFill>
              </a:rPr>
              <a:t>username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1"/>
                </a:solidFill>
              </a:rPr>
              <a:t>password</a:t>
            </a:r>
            <a:r>
              <a:rPr lang="en-US" dirty="0">
                <a:solidFill>
                  <a:schemeClr val="accent1"/>
                </a:solidFill>
              </a:rPr>
              <a:t>, and </a:t>
            </a:r>
            <a:r>
              <a:rPr lang="en-US" b="1" dirty="0" err="1">
                <a:solidFill>
                  <a:schemeClr val="accent1"/>
                </a:solidFill>
              </a:rPr>
              <a:t>accessToken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8" name="5">
            <a:hlinkClick r:id="" action="ppaction://media"/>
            <a:extLst>
              <a:ext uri="{FF2B5EF4-FFF2-40B4-BE49-F238E27FC236}">
                <a16:creationId xmlns:a16="http://schemas.microsoft.com/office/drawing/2014/main" id="{923ECD4D-71AE-597D-5E57-6016785F7C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725183" y="66484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08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Click="0" advTm="11996">
        <p159:morph option="byObject"/>
      </p:transition>
    </mc:Choice>
    <mc:Fallback>
      <p:transition spd="slow" advClick="0" advTm="119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81481E-6 L -0.00091 -0.3168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58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autoRev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15" dur="250" fill="hold"/>
                                        <p:tgtEl>
                                          <p:spTgt spid="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10" grpId="0"/>
    </p:bldLst>
  </p:timing>
  <p:extLst>
    <p:ext uri="{E180D4A7-C9FB-4DFB-919C-405C955672EB}">
      <p14:showEvtLst xmlns:p14="http://schemas.microsoft.com/office/powerpoint/2010/main">
        <p14:playEvt time="1" objId="8"/>
        <p14:stopEvt time="11912" objId="8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creenshot3">
            <a:extLst>
              <a:ext uri="{FF2B5EF4-FFF2-40B4-BE49-F238E27FC236}">
                <a16:creationId xmlns:a16="http://schemas.microsoft.com/office/drawing/2014/main" id="{414B1AAC-9BCB-F6E1-217F-EB6DEBABBF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167" y="-9525"/>
            <a:ext cx="9964615" cy="6858000"/>
          </a:xfrm>
          <a:prstGeom prst="rect">
            <a:avLst/>
          </a:prstGeom>
        </p:spPr>
      </p:pic>
      <p:pic>
        <p:nvPicPr>
          <p:cNvPr id="19" name="Screenshot2">
            <a:extLst>
              <a:ext uri="{FF2B5EF4-FFF2-40B4-BE49-F238E27FC236}">
                <a16:creationId xmlns:a16="http://schemas.microsoft.com/office/drawing/2014/main" id="{761E287A-6491-80E1-2829-F52B6C3CA4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879" y="0"/>
            <a:ext cx="9956242" cy="6858000"/>
          </a:xfrm>
          <a:prstGeom prst="rect">
            <a:avLst/>
          </a:prstGeom>
        </p:spPr>
      </p:pic>
      <p:pic>
        <p:nvPicPr>
          <p:cNvPr id="17" name="Screenshot1">
            <a:extLst>
              <a:ext uri="{FF2B5EF4-FFF2-40B4-BE49-F238E27FC236}">
                <a16:creationId xmlns:a16="http://schemas.microsoft.com/office/drawing/2014/main" id="{D3C61C18-495C-FF4E-622D-06F5821D79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879" y="0"/>
            <a:ext cx="9956242" cy="6858000"/>
          </a:xfrm>
          <a:prstGeom prst="rect">
            <a:avLst/>
          </a:prstGeom>
        </p:spPr>
      </p:pic>
      <p:pic>
        <p:nvPicPr>
          <p:cNvPr id="15" name="Arrow Move" descr="Cursor with solid fill">
            <a:extLst>
              <a:ext uri="{FF2B5EF4-FFF2-40B4-BE49-F238E27FC236}">
                <a16:creationId xmlns:a16="http://schemas.microsoft.com/office/drawing/2014/main" id="{BE88A932-0FE7-F3A8-47C3-F017213EF3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2526792" y="3772281"/>
            <a:ext cx="333375" cy="333375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29110" y="5278172"/>
            <a:ext cx="58799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Now that we understand the environment setup, let’s export it for our Java API test project. Move the mouse over the </a:t>
            </a:r>
            <a:r>
              <a:rPr lang="en-US" b="1" dirty="0">
                <a:solidFill>
                  <a:schemeClr val="accent1"/>
                </a:solidFill>
              </a:rPr>
              <a:t>three dots </a:t>
            </a:r>
            <a:r>
              <a:rPr lang="en-US" dirty="0">
                <a:solidFill>
                  <a:schemeClr val="accent1"/>
                </a:solidFill>
              </a:rPr>
              <a:t>next to the </a:t>
            </a:r>
            <a:r>
              <a:rPr lang="en-US" b="1" dirty="0" err="1">
                <a:solidFill>
                  <a:schemeClr val="accent1"/>
                </a:solidFill>
              </a:rPr>
              <a:t>DummyJSON</a:t>
            </a:r>
            <a:r>
              <a:rPr lang="en-US" dirty="0">
                <a:solidFill>
                  <a:schemeClr val="accent1"/>
                </a:solidFill>
              </a:rPr>
              <a:t> environment, click </a:t>
            </a:r>
            <a:r>
              <a:rPr lang="en-US" b="1" dirty="0">
                <a:solidFill>
                  <a:schemeClr val="accent1"/>
                </a:solidFill>
              </a:rPr>
              <a:t>Export</a:t>
            </a:r>
            <a:r>
              <a:rPr lang="en-US" dirty="0">
                <a:solidFill>
                  <a:schemeClr val="accent1"/>
                </a:solidFill>
              </a:rPr>
              <a:t>, and </a:t>
            </a:r>
            <a:r>
              <a:rPr lang="en-US" b="1" dirty="0">
                <a:solidFill>
                  <a:schemeClr val="accent1"/>
                </a:solidFill>
              </a:rPr>
              <a:t>Save</a:t>
            </a:r>
            <a:r>
              <a:rPr lang="en-US" dirty="0">
                <a:solidFill>
                  <a:schemeClr val="accent1"/>
                </a:solidFill>
              </a:rPr>
              <a:t> the environment JSON file into the Java project’s </a:t>
            </a:r>
            <a:r>
              <a:rPr lang="en-US" b="1" dirty="0">
                <a:solidFill>
                  <a:schemeClr val="accent1"/>
                </a:solidFill>
              </a:rPr>
              <a:t>resources</a:t>
            </a:r>
            <a:r>
              <a:rPr lang="en-US" dirty="0">
                <a:solidFill>
                  <a:schemeClr val="accent1"/>
                </a:solidFill>
              </a:rPr>
              <a:t> directory.</a:t>
            </a:r>
          </a:p>
        </p:txBody>
      </p:sp>
      <p:pic>
        <p:nvPicPr>
          <p:cNvPr id="23" name="6">
            <a:hlinkClick r:id="" action="ppaction://media"/>
            <a:extLst>
              <a:ext uri="{FF2B5EF4-FFF2-40B4-BE49-F238E27FC236}">
                <a16:creationId xmlns:a16="http://schemas.microsoft.com/office/drawing/2014/main" id="{F305F4DC-A91F-CC0B-E1F0-07603AC297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325225" y="6145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69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15999">
        <p:cut/>
      </p:transition>
    </mc:Choice>
    <mc:Fallback>
      <p:transition advClick="0" advTm="15999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Scale>
                                      <p:cBhvr>
                                        <p:cTn id="10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animMotion origin="layout" path="M -2.5E-6 4.81481E-6 L 0.05651 0.06342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9" y="294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1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11000"/>
                                  </p:stCondLst>
                                  <p:childTnLst>
                                    <p:animMotion origin="layout" path="M 0.05651 0.06342 L 0.46263 0.1590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99" y="4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981"/>
                            </p:stCondLst>
                            <p:childTnLst>
                              <p:par>
                                <p:cTn id="24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1" objId="23"/>
        <p14:stopEvt time="15333" objId="23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creenshot">
            <a:extLst>
              <a:ext uri="{FF2B5EF4-FFF2-40B4-BE49-F238E27FC236}">
                <a16:creationId xmlns:a16="http://schemas.microsoft.com/office/drawing/2014/main" id="{8B2A4EFF-BAFD-95D8-0326-FE9694CB08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506" y="0"/>
            <a:ext cx="9972988" cy="6858000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4722" y="5201972"/>
            <a:ext cx="61143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Before exporting the collection, let’s review how </a:t>
            </a:r>
            <a:r>
              <a:rPr lang="en-US" b="1" dirty="0">
                <a:solidFill>
                  <a:schemeClr val="accent1"/>
                </a:solidFill>
              </a:rPr>
              <a:t>template variables</a:t>
            </a:r>
            <a:r>
              <a:rPr lang="en-US" dirty="0">
                <a:solidFill>
                  <a:schemeClr val="accent1"/>
                </a:solidFill>
              </a:rPr>
              <a:t> are defined. In Postman, we can reference environment values by using </a:t>
            </a:r>
            <a:r>
              <a:rPr lang="en-US" b="1" dirty="0">
                <a:solidFill>
                  <a:schemeClr val="accent1"/>
                </a:solidFill>
              </a:rPr>
              <a:t>double curly braces</a:t>
            </a:r>
            <a:r>
              <a:rPr lang="en-US" dirty="0">
                <a:solidFill>
                  <a:schemeClr val="accent1"/>
                </a:solidFill>
              </a:rPr>
              <a:t>. These placeholders should be resolved from the selected environment before the </a:t>
            </a:r>
            <a:r>
              <a:rPr lang="en-US" b="1" dirty="0">
                <a:solidFill>
                  <a:schemeClr val="accent1"/>
                </a:solidFill>
              </a:rPr>
              <a:t>request</a:t>
            </a:r>
            <a:r>
              <a:rPr lang="en-US" dirty="0">
                <a:solidFill>
                  <a:schemeClr val="accent1"/>
                </a:solidFill>
              </a:rPr>
              <a:t> is executed.</a:t>
            </a:r>
          </a:p>
        </p:txBody>
      </p:sp>
      <p:pic>
        <p:nvPicPr>
          <p:cNvPr id="9" name="7">
            <a:hlinkClick r:id="" action="ppaction://media"/>
            <a:extLst>
              <a:ext uri="{FF2B5EF4-FFF2-40B4-BE49-F238E27FC236}">
                <a16:creationId xmlns:a16="http://schemas.microsoft.com/office/drawing/2014/main" id="{E052670C-7F78-0A9F-4495-A77187190F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53800" y="6145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95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16075">
        <p:cut/>
      </p:transition>
    </mc:Choice>
    <mc:Fallback>
      <p:transition advClick="0" advTm="16075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0" objId="9"/>
        <p14:stopEvt time="15799" objId="9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Screenshot4">
            <a:extLst>
              <a:ext uri="{FF2B5EF4-FFF2-40B4-BE49-F238E27FC236}">
                <a16:creationId xmlns:a16="http://schemas.microsoft.com/office/drawing/2014/main" id="{1FCECBDE-6314-2FC0-AF99-91AB48FC9A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409" y="0"/>
            <a:ext cx="9985181" cy="6858000"/>
          </a:xfrm>
          <a:prstGeom prst="rect">
            <a:avLst/>
          </a:prstGeom>
        </p:spPr>
      </p:pic>
      <p:pic>
        <p:nvPicPr>
          <p:cNvPr id="22" name="Screenshot3">
            <a:extLst>
              <a:ext uri="{FF2B5EF4-FFF2-40B4-BE49-F238E27FC236}">
                <a16:creationId xmlns:a16="http://schemas.microsoft.com/office/drawing/2014/main" id="{C23D95E2-C7EC-9F6B-E4AF-A4166C3848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09" y="0"/>
            <a:ext cx="9985181" cy="6858000"/>
          </a:xfrm>
          <a:prstGeom prst="rect">
            <a:avLst/>
          </a:prstGeom>
        </p:spPr>
      </p:pic>
      <p:pic>
        <p:nvPicPr>
          <p:cNvPr id="10" name="Screenshot2">
            <a:extLst>
              <a:ext uri="{FF2B5EF4-FFF2-40B4-BE49-F238E27FC236}">
                <a16:creationId xmlns:a16="http://schemas.microsoft.com/office/drawing/2014/main" id="{9755D66F-0B7E-EA1A-E14F-4FFE7690F1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409" y="0"/>
            <a:ext cx="9985181" cy="6858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Screenshot1">
            <a:extLst>
              <a:ext uri="{FF2B5EF4-FFF2-40B4-BE49-F238E27FC236}">
                <a16:creationId xmlns:a16="http://schemas.microsoft.com/office/drawing/2014/main" id="{4CBBAD6E-CA7A-75BD-0EBB-59BFF737F8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409" y="0"/>
            <a:ext cx="9985181" cy="6858000"/>
          </a:xfrm>
          <a:prstGeom prst="rect">
            <a:avLst/>
          </a:prstGeom>
        </p:spPr>
      </p:pic>
      <p:sp>
        <p:nvSpPr>
          <p:cNvPr id="2" name="Caption">
            <a:extLst>
              <a:ext uri="{FF2B5EF4-FFF2-40B4-BE49-F238E27FC236}">
                <a16:creationId xmlns:a16="http://schemas.microsoft.com/office/drawing/2014/main" id="{19548457-A1F8-D46E-FED9-6907FC17A2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4722" y="5201972"/>
            <a:ext cx="61143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Now let’s export the Postman collection. Move the mouse over the </a:t>
            </a:r>
            <a:r>
              <a:rPr lang="en-US" b="1" dirty="0">
                <a:solidFill>
                  <a:schemeClr val="accent1"/>
                </a:solidFill>
              </a:rPr>
              <a:t>three dots </a:t>
            </a:r>
            <a:r>
              <a:rPr lang="en-US" dirty="0">
                <a:solidFill>
                  <a:schemeClr val="accent1"/>
                </a:solidFill>
              </a:rPr>
              <a:t>next to the </a:t>
            </a:r>
            <a:r>
              <a:rPr lang="en-US" b="1" dirty="0" err="1">
                <a:solidFill>
                  <a:schemeClr val="accent1"/>
                </a:solidFill>
              </a:rPr>
              <a:t>DummyJSON</a:t>
            </a:r>
            <a:r>
              <a:rPr lang="en-US" dirty="0">
                <a:solidFill>
                  <a:schemeClr val="accent1"/>
                </a:solidFill>
              </a:rPr>
              <a:t> collection, click </a:t>
            </a:r>
            <a:r>
              <a:rPr lang="en-US" b="1" dirty="0">
                <a:solidFill>
                  <a:schemeClr val="accent1"/>
                </a:solidFill>
              </a:rPr>
              <a:t>More </a:t>
            </a:r>
            <a:r>
              <a:rPr lang="en-US" dirty="0">
                <a:solidFill>
                  <a:schemeClr val="accent1"/>
                </a:solidFill>
              </a:rPr>
              <a:t>actions, choose </a:t>
            </a:r>
            <a:r>
              <a:rPr lang="en-US" b="1" dirty="0">
                <a:solidFill>
                  <a:schemeClr val="accent1"/>
                </a:solidFill>
              </a:rPr>
              <a:t>Export</a:t>
            </a:r>
            <a:r>
              <a:rPr lang="en-US" dirty="0">
                <a:solidFill>
                  <a:schemeClr val="accent1"/>
                </a:solidFill>
              </a:rPr>
              <a:t>, and </a:t>
            </a:r>
            <a:r>
              <a:rPr lang="en-US" b="1" dirty="0">
                <a:solidFill>
                  <a:schemeClr val="accent1"/>
                </a:solidFill>
              </a:rPr>
              <a:t>Save</a:t>
            </a:r>
            <a:r>
              <a:rPr lang="en-US" dirty="0">
                <a:solidFill>
                  <a:schemeClr val="accent1"/>
                </a:solidFill>
              </a:rPr>
              <a:t> the collection JSON file into the same Java project </a:t>
            </a:r>
            <a:r>
              <a:rPr lang="en-US" b="1" dirty="0">
                <a:solidFill>
                  <a:schemeClr val="accent1"/>
                </a:solidFill>
              </a:rPr>
              <a:t>resources</a:t>
            </a:r>
            <a:r>
              <a:rPr lang="en-US" dirty="0">
                <a:solidFill>
                  <a:schemeClr val="accent1"/>
                </a:solidFill>
              </a:rPr>
              <a:t> directory.</a:t>
            </a:r>
          </a:p>
        </p:txBody>
      </p:sp>
      <p:pic>
        <p:nvPicPr>
          <p:cNvPr id="7" name="Arrow Move" descr="Cursor with solid fill">
            <a:extLst>
              <a:ext uri="{FF2B5EF4-FFF2-40B4-BE49-F238E27FC236}">
                <a16:creationId xmlns:a16="http://schemas.microsoft.com/office/drawing/2014/main" id="{0CEBD606-96EC-CE02-4438-029737A465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16918">
            <a:off x="2588972" y="1152906"/>
            <a:ext cx="333375" cy="333375"/>
          </a:xfrm>
          <a:prstGeom prst="rect">
            <a:avLst/>
          </a:prstGeom>
        </p:spPr>
      </p:pic>
      <p:pic>
        <p:nvPicPr>
          <p:cNvPr id="29" name="8">
            <a:hlinkClick r:id="" action="ppaction://media"/>
            <a:extLst>
              <a:ext uri="{FF2B5EF4-FFF2-40B4-BE49-F238E27FC236}">
                <a16:creationId xmlns:a16="http://schemas.microsoft.com/office/drawing/2014/main" id="{75088067-C486-4B8B-BD8E-AD298578DD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18745" y="6248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01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Click="0" advTm="13973">
        <p:cut/>
      </p:transition>
    </mc:Choice>
    <mc:Fallback>
      <p:transition advClick="0" advTm="13973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Scale>
                                      <p:cBhvr>
                                        <p:cTn id="10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Motion origin="layout" path="M -1.66667E-6 -1.11111E-6 L 0.06211 0.44884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2243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Motion origin="layout" path="M 0.06211 0.44884 L 0.18268 0.48634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29" y="1875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autoRev="1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Scale>
                                      <p:cBhvr>
                                        <p:cTn id="19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0.18268 0.48634 L 0.39753 0.42037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42" y="-331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animMotion origin="layout" path="M 0.39753 0.42037 L 0.4405 0.4847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8" y="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301"/>
                            </p:stCondLst>
                            <p:childTnLst>
                              <p:par>
                                <p:cTn id="33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50" fill="hold"/>
                                        <p:tgtEl>
                                          <p:spTgt spid="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1" objId="29"/>
        <p14:stopEvt time="13599" objId="29"/>
      </p14:showEvt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creenshot">
            <a:extLst>
              <a:ext uri="{FF2B5EF4-FFF2-40B4-BE49-F238E27FC236}">
                <a16:creationId xmlns:a16="http://schemas.microsoft.com/office/drawing/2014/main" id="{C090BA28-32E8-582E-F66D-9A63559296F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8" name="Caption">
            <a:extLst>
              <a:ext uri="{FF2B5EF4-FFF2-40B4-BE49-F238E27FC236}">
                <a16:creationId xmlns:a16="http://schemas.microsoft.com/office/drawing/2014/main" id="{61CFFFA3-DD5A-8D89-F1A8-C9C882E053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77607" y="5160875"/>
            <a:ext cx="6114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For this tutorial, I will use </a:t>
            </a:r>
            <a:r>
              <a:rPr lang="en-US" b="1" dirty="0">
                <a:solidFill>
                  <a:schemeClr val="accent1"/>
                </a:solidFill>
              </a:rPr>
              <a:t>Eclipse IDE</a:t>
            </a:r>
            <a:r>
              <a:rPr lang="en-US" dirty="0">
                <a:solidFill>
                  <a:schemeClr val="accent1"/>
                </a:solidFill>
              </a:rPr>
              <a:t>, but you can use any Java IDE that supports </a:t>
            </a:r>
            <a:r>
              <a:rPr lang="en-US" b="1" dirty="0">
                <a:solidFill>
                  <a:schemeClr val="accent1"/>
                </a:solidFill>
              </a:rPr>
              <a:t>Maven</a:t>
            </a:r>
            <a:r>
              <a:rPr lang="en-US" dirty="0">
                <a:solidFill>
                  <a:schemeClr val="accent1"/>
                </a:solidFill>
              </a:rPr>
              <a:t> projects. Start by clicking </a:t>
            </a:r>
            <a:r>
              <a:rPr lang="en-US" b="1" dirty="0">
                <a:solidFill>
                  <a:schemeClr val="accent1"/>
                </a:solidFill>
              </a:rPr>
              <a:t>Create a Maven project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12" name="Arrow Move" descr="Cursor with solid fill">
            <a:extLst>
              <a:ext uri="{FF2B5EF4-FFF2-40B4-BE49-F238E27FC236}">
                <a16:creationId xmlns:a16="http://schemas.microsoft.com/office/drawing/2014/main" id="{CA845F8F-7E76-6B8D-5222-DC55C52337C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16918">
            <a:off x="2321845" y="1656342"/>
            <a:ext cx="333375" cy="333375"/>
          </a:xfrm>
          <a:prstGeom prst="rect">
            <a:avLst/>
          </a:prstGeom>
        </p:spPr>
      </p:pic>
      <p:pic>
        <p:nvPicPr>
          <p:cNvPr id="13" name="9">
            <a:hlinkClick r:id="" action="ppaction://media"/>
            <a:extLst>
              <a:ext uri="{FF2B5EF4-FFF2-40B4-BE49-F238E27FC236}">
                <a16:creationId xmlns:a16="http://schemas.microsoft.com/office/drawing/2014/main" id="{28EA28D4-2ABA-3FC1-1289-E054331AA5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30281" y="60842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10093"/>
      </p:ext>
    </p:extLst>
  </p:cSld>
  <p:clrMapOvr>
    <a:masterClrMapping/>
  </p:clrMapOvr>
  <p:transition spd="slow" advTm="1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191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191"/>
                            </p:stCondLst>
                            <p:childTnLst>
                              <p:par>
                                <p:cTn id="16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12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8" grpId="0"/>
    </p:bldLst>
  </p:timing>
  <p:extLst>
    <p:ext uri="{E180D4A7-C9FB-4DFB-919C-405C955672EB}">
      <p14:showEvtLst xmlns:p14="http://schemas.microsoft.com/office/powerpoint/2010/main">
        <p14:playEvt time="0" objId="13"/>
        <p14:stopEvt time="9616" objId="13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creenshot4">
            <a:extLst>
              <a:ext uri="{FF2B5EF4-FFF2-40B4-BE49-F238E27FC236}">
                <a16:creationId xmlns:a16="http://schemas.microsoft.com/office/drawing/2014/main" id="{9E2DDB8E-6056-36F4-1100-C0BC3E2D54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42" name="Screenshot3">
            <a:extLst>
              <a:ext uri="{FF2B5EF4-FFF2-40B4-BE49-F238E27FC236}">
                <a16:creationId xmlns:a16="http://schemas.microsoft.com/office/drawing/2014/main" id="{78700038-A97C-AED4-F63D-1089648C97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40" name="Screenshot2">
            <a:extLst>
              <a:ext uri="{FF2B5EF4-FFF2-40B4-BE49-F238E27FC236}">
                <a16:creationId xmlns:a16="http://schemas.microsoft.com/office/drawing/2014/main" id="{FD2D0D1F-D1E8-F423-7976-78A9ACA62E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32" name="Screenshot1">
            <a:extLst>
              <a:ext uri="{FF2B5EF4-FFF2-40B4-BE49-F238E27FC236}">
                <a16:creationId xmlns:a16="http://schemas.microsoft.com/office/drawing/2014/main" id="{BBD2E9E4-32B6-0EB4-C4EF-2248788B771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12" name="Caption2">
            <a:extLst>
              <a:ext uri="{FF2B5EF4-FFF2-40B4-BE49-F238E27FC236}">
                <a16:creationId xmlns:a16="http://schemas.microsoft.com/office/drawing/2014/main" id="{7509CF60-B846-E1F6-EAA3-A68AC694FE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57059" y="5537296"/>
            <a:ext cx="6475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Enter your Maven project information, such as </a:t>
            </a:r>
            <a:r>
              <a:rPr lang="en-US" b="1" dirty="0">
                <a:solidFill>
                  <a:schemeClr val="accent1"/>
                </a:solidFill>
              </a:rPr>
              <a:t>Group ID </a:t>
            </a:r>
            <a:r>
              <a:rPr lang="en-US" dirty="0">
                <a:solidFill>
                  <a:schemeClr val="accent1"/>
                </a:solidFill>
              </a:rPr>
              <a:t>and </a:t>
            </a:r>
            <a:r>
              <a:rPr lang="en-US" b="1" dirty="0">
                <a:solidFill>
                  <a:schemeClr val="accent1"/>
                </a:solidFill>
              </a:rPr>
              <a:t>Artifact ID</a:t>
            </a:r>
            <a:r>
              <a:rPr lang="en-US" dirty="0">
                <a:solidFill>
                  <a:schemeClr val="accent1"/>
                </a:solidFill>
              </a:rPr>
              <a:t>. Then click </a:t>
            </a:r>
            <a:r>
              <a:rPr lang="en-US" b="1" dirty="0">
                <a:solidFill>
                  <a:schemeClr val="accent1"/>
                </a:solidFill>
              </a:rPr>
              <a:t>Finish</a:t>
            </a:r>
            <a:r>
              <a:rPr lang="en-US" dirty="0">
                <a:solidFill>
                  <a:schemeClr val="accent1"/>
                </a:solidFill>
              </a:rPr>
              <a:t> to create the project.</a:t>
            </a:r>
          </a:p>
        </p:txBody>
      </p:sp>
      <p:sp>
        <p:nvSpPr>
          <p:cNvPr id="8" name="Caption1">
            <a:extLst>
              <a:ext uri="{FF2B5EF4-FFF2-40B4-BE49-F238E27FC236}">
                <a16:creationId xmlns:a16="http://schemas.microsoft.com/office/drawing/2014/main" id="{61CFFFA3-DD5A-8D89-F1A8-C9C882E053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57059" y="5537296"/>
            <a:ext cx="6228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On the New Maven Project screen, select </a:t>
            </a:r>
            <a:r>
              <a:rPr lang="en-US" b="1" dirty="0">
                <a:solidFill>
                  <a:schemeClr val="accent1"/>
                </a:solidFill>
              </a:rPr>
              <a:t>Create a simple project</a:t>
            </a:r>
            <a:r>
              <a:rPr lang="en-US" dirty="0">
                <a:solidFill>
                  <a:schemeClr val="accent1"/>
                </a:solidFill>
              </a:rPr>
              <a:t>, which skips archetype selection. Then click </a:t>
            </a:r>
            <a:r>
              <a:rPr lang="en-US" b="1" dirty="0">
                <a:solidFill>
                  <a:schemeClr val="accent1"/>
                </a:solidFill>
              </a:rPr>
              <a:t>Next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13" name="Arrow Move" descr="Cursor with solid fill">
            <a:extLst>
              <a:ext uri="{FF2B5EF4-FFF2-40B4-BE49-F238E27FC236}">
                <a16:creationId xmlns:a16="http://schemas.microsoft.com/office/drawing/2014/main" id="{65C8BD1A-2A0A-CF41-3E16-AEA2AAD0B72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816918">
            <a:off x="2332119" y="1676890"/>
            <a:ext cx="333375" cy="333375"/>
          </a:xfrm>
          <a:prstGeom prst="rect">
            <a:avLst/>
          </a:prstGeom>
        </p:spPr>
      </p:pic>
      <p:sp>
        <p:nvSpPr>
          <p:cNvPr id="24" name="jpostman-demo">
            <a:extLst>
              <a:ext uri="{FF2B5EF4-FFF2-40B4-BE49-F238E27FC236}">
                <a16:creationId xmlns:a16="http://schemas.microsoft.com/office/drawing/2014/main" id="{FFB0E9C3-270E-01F6-3137-10AB02A5C0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35570" y="1280950"/>
            <a:ext cx="9829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jpostman</a:t>
            </a:r>
            <a:r>
              <a:rPr lang="en-US" sz="900" dirty="0"/>
              <a:t>-demo</a:t>
            </a:r>
          </a:p>
        </p:txBody>
      </p:sp>
      <p:sp>
        <p:nvSpPr>
          <p:cNvPr id="23" name="com.example">
            <a:extLst>
              <a:ext uri="{FF2B5EF4-FFF2-40B4-BE49-F238E27FC236}">
                <a16:creationId xmlns:a16="http://schemas.microsoft.com/office/drawing/2014/main" id="{30F5C01F-EAED-4696-768C-2F960393F1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35570" y="1059180"/>
            <a:ext cx="8675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com.example</a:t>
            </a:r>
            <a:endParaRPr lang="en-US" sz="900" dirty="0"/>
          </a:p>
        </p:txBody>
      </p:sp>
      <p:pic>
        <p:nvPicPr>
          <p:cNvPr id="46" name="10">
            <a:hlinkClick r:id="" action="ppaction://media"/>
            <a:extLst>
              <a:ext uri="{FF2B5EF4-FFF2-40B4-BE49-F238E27FC236}">
                <a16:creationId xmlns:a16="http://schemas.microsoft.com/office/drawing/2014/main" id="{5FCEBB12-9A61-D152-AF82-C8F26A1EA8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398884" y="614037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78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5000"/>
    </mc:Choice>
    <mc:Fallback>
      <p:transition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 L 0.15312 -0.1020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56" y="-511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.15312 -0.10208 L 0.36198 0.3379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43" y="2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721"/>
                            </p:stCondLst>
                            <p:childTnLst>
                              <p:par>
                                <p:cTn id="2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221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1" nodeType="withEffect">
                                  <p:stCondLst>
                                    <p:cond delay="2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.36198 0.33797 L 0.43385 0.34005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3732"/>
                            </p:stCondLst>
                            <p:childTnLst>
                              <p:par>
                                <p:cTn id="43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  <p:bldLst>
      <p:bldP spid="12" grpId="0"/>
      <p:bldP spid="12" grpId="2"/>
      <p:bldP spid="8" grpId="0"/>
      <p:bldP spid="8" grpId="1"/>
      <p:bldP spid="24" grpId="0"/>
      <p:bldP spid="24" grpId="1"/>
      <p:bldP spid="23" grpId="0"/>
      <p:bldP spid="23" grpId="1"/>
    </p:bldLst>
  </p:timing>
  <p:extLst>
    <p:ext uri="{E180D4A7-C9FB-4DFB-919C-405C955672EB}">
      <p14:showEvtLst xmlns:p14="http://schemas.microsoft.com/office/powerpoint/2010/main">
        <p14:playEvt time="0" objId="46"/>
        <p14:stopEvt time="14860" objId="46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Screenshot3">
            <a:extLst>
              <a:ext uri="{FF2B5EF4-FFF2-40B4-BE49-F238E27FC236}">
                <a16:creationId xmlns:a16="http://schemas.microsoft.com/office/drawing/2014/main" id="{A7D43F17-5D10-DEC9-748C-D804CA917E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13" name="Screenshot2">
            <a:extLst>
              <a:ext uri="{FF2B5EF4-FFF2-40B4-BE49-F238E27FC236}">
                <a16:creationId xmlns:a16="http://schemas.microsoft.com/office/drawing/2014/main" id="{D726C96C-E6BB-66E2-ED60-67C80A911D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10" name="Screenshot1">
            <a:extLst>
              <a:ext uri="{FF2B5EF4-FFF2-40B4-BE49-F238E27FC236}">
                <a16:creationId xmlns:a16="http://schemas.microsoft.com/office/drawing/2014/main" id="{4DD068D0-BA95-69A7-658C-7C50306023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11" name="Arrow Move" descr="Cursor with solid fill">
            <a:extLst>
              <a:ext uri="{FF2B5EF4-FFF2-40B4-BE49-F238E27FC236}">
                <a16:creationId xmlns:a16="http://schemas.microsoft.com/office/drawing/2014/main" id="{4E19C4F8-CF47-21AE-D513-DE90011590E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1253804" y="1001023"/>
            <a:ext cx="333375" cy="333375"/>
          </a:xfrm>
          <a:prstGeom prst="rect">
            <a:avLst/>
          </a:prstGeom>
        </p:spPr>
      </p:pic>
      <p:sp>
        <p:nvSpPr>
          <p:cNvPr id="18" name="Caption1">
            <a:extLst>
              <a:ext uri="{FF2B5EF4-FFF2-40B4-BE49-F238E27FC236}">
                <a16:creationId xmlns:a16="http://schemas.microsoft.com/office/drawing/2014/main" id="{8B25FC4B-4550-769E-6AFC-0B6E3E74FD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57059" y="5487868"/>
            <a:ext cx="622873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After the project is created, </a:t>
            </a:r>
            <a:r>
              <a:rPr lang="en-US" b="1" dirty="0">
                <a:solidFill>
                  <a:schemeClr val="accent1"/>
                </a:solidFill>
              </a:rPr>
              <a:t>expand</a:t>
            </a:r>
            <a:r>
              <a:rPr lang="en-US" dirty="0">
                <a:solidFill>
                  <a:schemeClr val="accent1"/>
                </a:solidFill>
              </a:rPr>
              <a:t> the new project in the Eclipse project tree and double-click the</a:t>
            </a:r>
            <a:r>
              <a:rPr lang="en-US" b="1" dirty="0">
                <a:solidFill>
                  <a:schemeClr val="accent1"/>
                </a:solidFill>
              </a:rPr>
              <a:t> pom.xml </a:t>
            </a:r>
            <a:r>
              <a:rPr lang="en-US" dirty="0">
                <a:solidFill>
                  <a:schemeClr val="accent1"/>
                </a:solidFill>
              </a:rPr>
              <a:t>file. This is where we will add </a:t>
            </a:r>
            <a:r>
              <a:rPr lang="en-US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as a Maven dependency.</a:t>
            </a:r>
          </a:p>
        </p:txBody>
      </p:sp>
      <p:pic>
        <p:nvPicPr>
          <p:cNvPr id="22" name="11">
            <a:hlinkClick r:id="" action="ppaction://media"/>
            <a:extLst>
              <a:ext uri="{FF2B5EF4-FFF2-40B4-BE49-F238E27FC236}">
                <a16:creationId xmlns:a16="http://schemas.microsoft.com/office/drawing/2014/main" id="{DD89BFEF-6A34-67BB-3F2C-012AA23AAB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403558" y="610639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20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292"/>
    </mc:Choice>
    <mc:Fallback>
      <p:transition spd="slow" advTm="122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5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54167E-6 -3.7037E-7 L 0.05039 0.1562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3" y="78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2000" autoRev="1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22" dur="150" fill="hold"/>
                                        <p:tgtEl>
                                          <p:spTgt spid="11"/>
                                        </p:tgtEl>
                                      </p:cBhvr>
                                      <p:by x="72000" y="72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  <p:bldLst>
      <p:bldP spid="18" grpId="0"/>
    </p:bldLst>
  </p:timing>
  <p:extLst>
    <p:ext uri="{E180D4A7-C9FB-4DFB-919C-405C955672EB}">
      <p14:showEvtLst xmlns:p14="http://schemas.microsoft.com/office/powerpoint/2010/main">
        <p14:playEvt time="0" objId="22"/>
        <p14:stopEvt time="12052" objId="22"/>
      </p14:showEvt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650D-3369-E555-1804-5616AE21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creenshot">
            <a:extLst>
              <a:ext uri="{FF2B5EF4-FFF2-40B4-BE49-F238E27FC236}">
                <a16:creationId xmlns:a16="http://schemas.microsoft.com/office/drawing/2014/main" id="{5C3F97F2-6DDA-5913-B36C-346FE76F5E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791" y="0"/>
            <a:ext cx="9252418" cy="6858000"/>
          </a:xfrm>
          <a:prstGeom prst="rect">
            <a:avLst/>
          </a:prstGeom>
        </p:spPr>
      </p:pic>
      <p:sp>
        <p:nvSpPr>
          <p:cNvPr id="6" name="Caption1">
            <a:extLst>
              <a:ext uri="{FF2B5EF4-FFF2-40B4-BE49-F238E27FC236}">
                <a16:creationId xmlns:a16="http://schemas.microsoft.com/office/drawing/2014/main" id="{1AAFED61-E4DD-D7CA-8B8C-52F6A45E52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63578" y="5598256"/>
            <a:ext cx="814310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Let’s review the available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Maven dependencies.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b="1" dirty="0">
                <a:solidFill>
                  <a:schemeClr val="accent1"/>
                </a:solidFill>
              </a:rPr>
              <a:t>-core</a:t>
            </a:r>
            <a:r>
              <a:rPr lang="en-US" dirty="0">
                <a:solidFill>
                  <a:schemeClr val="accent1"/>
                </a:solidFill>
              </a:rPr>
              <a:t> is the main library, while the other packages are optional REST API executor adapters.</a:t>
            </a:r>
          </a:p>
        </p:txBody>
      </p:sp>
      <p:pic>
        <p:nvPicPr>
          <p:cNvPr id="8" name="Arrow Move" descr="Cursor with solid fill">
            <a:extLst>
              <a:ext uri="{FF2B5EF4-FFF2-40B4-BE49-F238E27FC236}">
                <a16:creationId xmlns:a16="http://schemas.microsoft.com/office/drawing/2014/main" id="{FB77F55D-41DB-F622-6142-D95447CE69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16918">
            <a:off x="3700441" y="5279756"/>
            <a:ext cx="333375" cy="333375"/>
          </a:xfrm>
          <a:prstGeom prst="rect">
            <a:avLst/>
          </a:prstGeom>
        </p:spPr>
      </p:pic>
      <p:pic>
        <p:nvPicPr>
          <p:cNvPr id="7" name="12">
            <a:hlinkClick r:id="" action="ppaction://media"/>
            <a:extLst>
              <a:ext uri="{FF2B5EF4-FFF2-40B4-BE49-F238E27FC236}">
                <a16:creationId xmlns:a16="http://schemas.microsoft.com/office/drawing/2014/main" id="{B1C1515B-0F09-7B80-93CF-576CEAF38A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381899" y="612689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416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1408">
        <p:fade/>
      </p:transition>
    </mc:Choice>
    <mc:Fallback>
      <p:transition spd="med" advTm="1140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381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381"/>
                            </p:stCondLst>
                            <p:childTnLst>
                              <p:par>
                                <p:cTn id="16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6" grpId="0" animBg="1"/>
    </p:bldLst>
  </p:timing>
  <p:extLst>
    <p:ext uri="{E180D4A7-C9FB-4DFB-919C-405C955672EB}">
      <p14:showEvtLst xmlns:p14="http://schemas.microsoft.com/office/powerpoint/2010/main">
        <p14:playEvt time="1" objId="7"/>
        <p14:stopEvt time="11212" objId="7"/>
      </p14:showEvt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650D-3369-E555-1804-5616AE21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creenshot">
            <a:extLst>
              <a:ext uri="{FF2B5EF4-FFF2-40B4-BE49-F238E27FC236}">
                <a16:creationId xmlns:a16="http://schemas.microsoft.com/office/drawing/2014/main" id="{6AAAFF52-9828-96DA-5807-15006F7605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315" y="0"/>
            <a:ext cx="8041369" cy="6858000"/>
          </a:xfrm>
          <a:prstGeom prst="rect">
            <a:avLst/>
          </a:prstGeom>
        </p:spPr>
      </p:pic>
      <p:sp>
        <p:nvSpPr>
          <p:cNvPr id="6" name="Caption1">
            <a:extLst>
              <a:ext uri="{FF2B5EF4-FFF2-40B4-BE49-F238E27FC236}">
                <a16:creationId xmlns:a16="http://schemas.microsoft.com/office/drawing/2014/main" id="{1AAFED61-E4DD-D7CA-8B8C-52F6A45E52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63578" y="5598256"/>
            <a:ext cx="8143103" cy="12618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You can find this </a:t>
            </a:r>
            <a:r>
              <a:rPr lang="en-US" b="1" dirty="0">
                <a:solidFill>
                  <a:schemeClr val="accent1"/>
                </a:solidFill>
              </a:rPr>
              <a:t>Maven Central </a:t>
            </a:r>
            <a:r>
              <a:rPr lang="en-US" dirty="0">
                <a:solidFill>
                  <a:schemeClr val="accent1"/>
                </a:solidFill>
              </a:rPr>
              <a:t>link in the video description or in the </a:t>
            </a:r>
            <a:r>
              <a:rPr lang="en-US" b="1" dirty="0">
                <a:solidFill>
                  <a:schemeClr val="accent1"/>
                </a:solidFill>
              </a:rPr>
              <a:t>GitHub</a:t>
            </a:r>
            <a:r>
              <a:rPr lang="en-US" dirty="0">
                <a:solidFill>
                  <a:schemeClr val="accent1"/>
                </a:solidFill>
              </a:rPr>
              <a:t> documentation. For now, I will copy the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b="1" dirty="0">
                <a:solidFill>
                  <a:schemeClr val="accent1"/>
                </a:solidFill>
              </a:rPr>
              <a:t>-core </a:t>
            </a:r>
            <a:r>
              <a:rPr lang="en-US" dirty="0">
                <a:solidFill>
                  <a:schemeClr val="accent1"/>
                </a:solidFill>
              </a:rPr>
              <a:t>dependency to the clipboard so we can add it to the project’s </a:t>
            </a:r>
            <a:r>
              <a:rPr lang="en-US" b="1" dirty="0">
                <a:solidFill>
                  <a:schemeClr val="accent1"/>
                </a:solidFill>
              </a:rPr>
              <a:t>pom.xml </a:t>
            </a:r>
            <a:r>
              <a:rPr lang="en-US" dirty="0">
                <a:solidFill>
                  <a:schemeClr val="accent1"/>
                </a:solidFill>
              </a:rPr>
              <a:t>file.</a:t>
            </a:r>
            <a:endParaRPr lang="en-US" sz="1100" dirty="0">
              <a:solidFill>
                <a:schemeClr val="accent1"/>
              </a:solidFill>
            </a:endParaRPr>
          </a:p>
          <a:p>
            <a:endParaRPr lang="en-US" sz="1100" dirty="0">
              <a:solidFill>
                <a:schemeClr val="accent1"/>
              </a:solidFill>
            </a:endParaRPr>
          </a:p>
          <a:p>
            <a:endParaRPr lang="en-US" sz="1100" dirty="0">
              <a:solidFill>
                <a:schemeClr val="accent1"/>
              </a:solidFill>
            </a:endParaRPr>
          </a:p>
        </p:txBody>
      </p:sp>
      <p:pic>
        <p:nvPicPr>
          <p:cNvPr id="8" name="Arrow Move" descr="Cursor with solid fill">
            <a:extLst>
              <a:ext uri="{FF2B5EF4-FFF2-40B4-BE49-F238E27FC236}">
                <a16:creationId xmlns:a16="http://schemas.microsoft.com/office/drawing/2014/main" id="{FB77F55D-41DB-F622-6142-D95447CE69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816918">
            <a:off x="8012948" y="3376815"/>
            <a:ext cx="333375" cy="333375"/>
          </a:xfrm>
          <a:prstGeom prst="rect">
            <a:avLst/>
          </a:prstGeom>
        </p:spPr>
      </p:pic>
      <p:pic>
        <p:nvPicPr>
          <p:cNvPr id="4" name="13">
            <a:hlinkClick r:id="" action="ppaction://media"/>
            <a:extLst>
              <a:ext uri="{FF2B5EF4-FFF2-40B4-BE49-F238E27FC236}">
                <a16:creationId xmlns:a16="http://schemas.microsoft.com/office/drawing/2014/main" id="{A4F9B0A8-7AA2-B73E-DBE2-158F705BC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314670" y="592439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41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3555">
        <p:fade/>
      </p:transition>
    </mc:Choice>
    <mc:Fallback>
      <p:transition spd="med" advTm="1355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971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971"/>
                            </p:stCondLst>
                            <p:childTnLst>
                              <p:par>
                                <p:cTn id="16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6" grpId="0" animBg="1"/>
    </p:bldLst>
  </p:timing>
  <p:extLst>
    <p:ext uri="{E180D4A7-C9FB-4DFB-919C-405C955672EB}">
      <p14:showEvtLst xmlns:p14="http://schemas.microsoft.com/office/powerpoint/2010/main">
        <p14:playEvt time="1" objId="4"/>
        <p14:stopEvt time="13065" objId="4"/>
      </p14:showEvt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F23E4-2E02-8152-5A5F-6F1E8249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Screenshot3">
            <a:extLst>
              <a:ext uri="{FF2B5EF4-FFF2-40B4-BE49-F238E27FC236}">
                <a16:creationId xmlns:a16="http://schemas.microsoft.com/office/drawing/2014/main" id="{9406F387-9104-46E4-9C23-A88D6CFE80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21" name="Screenshot2">
            <a:extLst>
              <a:ext uri="{FF2B5EF4-FFF2-40B4-BE49-F238E27FC236}">
                <a16:creationId xmlns:a16="http://schemas.microsoft.com/office/drawing/2014/main" id="{67B61D72-DFDD-8410-D5E3-BD4F1CDCBF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19" name="Screenshot1">
            <a:extLst>
              <a:ext uri="{FF2B5EF4-FFF2-40B4-BE49-F238E27FC236}">
                <a16:creationId xmlns:a16="http://schemas.microsoft.com/office/drawing/2014/main" id="{EB02A5F5-4538-5DD4-B233-3B0C33292C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11" name="Arrow Move" descr="Cursor with solid fill">
            <a:extLst>
              <a:ext uri="{FF2B5EF4-FFF2-40B4-BE49-F238E27FC236}">
                <a16:creationId xmlns:a16="http://schemas.microsoft.com/office/drawing/2014/main" id="{7C11782D-B49E-359E-36ED-75EF0E5DEB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4075382" y="1436451"/>
            <a:ext cx="333375" cy="333375"/>
          </a:xfrm>
          <a:prstGeom prst="rect">
            <a:avLst/>
          </a:prstGeom>
        </p:spPr>
      </p:pic>
      <p:sp>
        <p:nvSpPr>
          <p:cNvPr id="4" name="Caption1">
            <a:extLst>
              <a:ext uri="{FF2B5EF4-FFF2-40B4-BE49-F238E27FC236}">
                <a16:creationId xmlns:a16="http://schemas.microsoft.com/office/drawing/2014/main" id="{6FC957C6-231C-4118-C161-CD08D04130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14" y="5450211"/>
            <a:ext cx="698427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Before I paste the dependency from the clipboard, I need to create the </a:t>
            </a:r>
            <a:r>
              <a:rPr lang="en-US" b="1" dirty="0">
                <a:solidFill>
                  <a:schemeClr val="accent1"/>
                </a:solidFill>
              </a:rPr>
              <a:t>dependencies </a:t>
            </a:r>
            <a:r>
              <a:rPr lang="en-US" dirty="0">
                <a:solidFill>
                  <a:schemeClr val="accent1"/>
                </a:solidFill>
              </a:rPr>
              <a:t>management section in the </a:t>
            </a:r>
            <a:r>
              <a:rPr lang="en-US" b="1" dirty="0">
                <a:solidFill>
                  <a:schemeClr val="accent1"/>
                </a:solidFill>
              </a:rPr>
              <a:t>pom.xml </a:t>
            </a:r>
            <a:r>
              <a:rPr lang="en-US" dirty="0">
                <a:solidFill>
                  <a:schemeClr val="accent1"/>
                </a:solidFill>
              </a:rPr>
              <a:t>file. After that, I will paste the copied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dependency inside this section.</a:t>
            </a:r>
          </a:p>
        </p:txBody>
      </p:sp>
      <p:pic>
        <p:nvPicPr>
          <p:cNvPr id="17" name="14">
            <a:hlinkClick r:id="" action="ppaction://media"/>
            <a:extLst>
              <a:ext uri="{FF2B5EF4-FFF2-40B4-BE49-F238E27FC236}">
                <a16:creationId xmlns:a16="http://schemas.microsoft.com/office/drawing/2014/main" id="{4C4A7C82-2C5F-8D65-397E-83AD5CFB58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77600" y="6248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95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2682">
        <p:fade/>
      </p:transition>
    </mc:Choice>
    <mc:Fallback>
      <p:transition spd="med" advTm="1268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Motion origin="layout" path="M 3.33333E-6 3.7037E-6 L -0.03308 0.02939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4" y="145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  <p:bldLst>
      <p:bldP spid="4" grpId="0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F23E4-2E02-8152-5A5F-6F1E8249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creenshot">
            <a:extLst>
              <a:ext uri="{FF2B5EF4-FFF2-40B4-BE49-F238E27FC236}">
                <a16:creationId xmlns:a16="http://schemas.microsoft.com/office/drawing/2014/main" id="{321ACD66-7A26-45D3-0865-FF1BB9482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9146" y="0"/>
            <a:ext cx="8273707" cy="6858000"/>
          </a:xfrm>
          <a:prstGeom prst="rect">
            <a:avLst/>
          </a:prstGeom>
        </p:spPr>
      </p:pic>
      <p:pic>
        <p:nvPicPr>
          <p:cNvPr id="11" name="Arrow Move" descr="Cursor with solid fill">
            <a:extLst>
              <a:ext uri="{FF2B5EF4-FFF2-40B4-BE49-F238E27FC236}">
                <a16:creationId xmlns:a16="http://schemas.microsoft.com/office/drawing/2014/main" id="{7C11782D-B49E-359E-36ED-75EF0E5DEB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16918">
            <a:off x="7968114" y="3552634"/>
            <a:ext cx="333375" cy="333375"/>
          </a:xfrm>
          <a:prstGeom prst="rect">
            <a:avLst/>
          </a:prstGeom>
        </p:spPr>
      </p:pic>
      <p:sp>
        <p:nvSpPr>
          <p:cNvPr id="4" name="Caption1">
            <a:extLst>
              <a:ext uri="{FF2B5EF4-FFF2-40B4-BE49-F238E27FC236}">
                <a16:creationId xmlns:a16="http://schemas.microsoft.com/office/drawing/2014/main" id="{6FC957C6-231C-4118-C161-CD08D04130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59145" y="5665653"/>
            <a:ext cx="827370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 will also add </a:t>
            </a:r>
            <a:r>
              <a:rPr lang="en-US" b="1" dirty="0">
                <a:solidFill>
                  <a:schemeClr val="accent1"/>
                </a:solidFill>
              </a:rPr>
              <a:t>TestNG</a:t>
            </a:r>
            <a:r>
              <a:rPr lang="en-US" dirty="0">
                <a:solidFill>
                  <a:schemeClr val="accent1"/>
                </a:solidFill>
              </a:rPr>
              <a:t> as a dependency for writing Java test scripts. However, you can use another test automation framework if you prefer, such as </a:t>
            </a:r>
            <a:r>
              <a:rPr lang="en-US" b="1" dirty="0">
                <a:solidFill>
                  <a:schemeClr val="accent1"/>
                </a:solidFill>
              </a:rPr>
              <a:t>JUnit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1"/>
                </a:solidFill>
              </a:rPr>
              <a:t>Cucumber</a:t>
            </a:r>
            <a:r>
              <a:rPr lang="en-US" dirty="0">
                <a:solidFill>
                  <a:schemeClr val="accent1"/>
                </a:solidFill>
              </a:rPr>
              <a:t>, or any framework that works with your project.</a:t>
            </a:r>
          </a:p>
          <a:p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15">
            <a:hlinkClick r:id="" action="ppaction://media"/>
            <a:extLst>
              <a:ext uri="{FF2B5EF4-FFF2-40B4-BE49-F238E27FC236}">
                <a16:creationId xmlns:a16="http://schemas.microsoft.com/office/drawing/2014/main" id="{AE23AFF8-E6C3-919A-E114-8485B41A68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95017" y="6172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6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3544">
        <p:fade/>
      </p:transition>
    </mc:Choice>
    <mc:Fallback>
      <p:transition spd="med" advTm="1354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251"/>
                            </p:stCondLst>
                            <p:childTnLst>
                              <p:par>
                                <p:cTn id="15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4" grpId="0" animBg="1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F23E4-2E02-8152-5A5F-6F1E8249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Screenshot4">
            <a:extLst>
              <a:ext uri="{FF2B5EF4-FFF2-40B4-BE49-F238E27FC236}">
                <a16:creationId xmlns:a16="http://schemas.microsoft.com/office/drawing/2014/main" id="{8B85E354-2CDC-7BB3-3D3A-BB5B2B64D4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34" name="Screenshot3">
            <a:extLst>
              <a:ext uri="{FF2B5EF4-FFF2-40B4-BE49-F238E27FC236}">
                <a16:creationId xmlns:a16="http://schemas.microsoft.com/office/drawing/2014/main" id="{0AE1E947-E844-3C4A-D11C-751E3584C3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30" name="Screenshot2">
            <a:extLst>
              <a:ext uri="{FF2B5EF4-FFF2-40B4-BE49-F238E27FC236}">
                <a16:creationId xmlns:a16="http://schemas.microsoft.com/office/drawing/2014/main" id="{F6BEC2F5-6A61-C597-9961-FCD7A46A19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49" y="0"/>
            <a:ext cx="9715501" cy="6858000"/>
          </a:xfrm>
          <a:prstGeom prst="rect">
            <a:avLst/>
          </a:prstGeom>
        </p:spPr>
      </p:pic>
      <p:pic>
        <p:nvPicPr>
          <p:cNvPr id="28" name="Screenshot1">
            <a:extLst>
              <a:ext uri="{FF2B5EF4-FFF2-40B4-BE49-F238E27FC236}">
                <a16:creationId xmlns:a16="http://schemas.microsoft.com/office/drawing/2014/main" id="{E2AACD09-109A-6C09-AF49-FD089C0F41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90" y="-7684"/>
            <a:ext cx="9723020" cy="6858000"/>
          </a:xfrm>
          <a:prstGeom prst="rect">
            <a:avLst/>
          </a:prstGeom>
        </p:spPr>
      </p:pic>
      <p:sp>
        <p:nvSpPr>
          <p:cNvPr id="4" name="Caption1">
            <a:extLst>
              <a:ext uri="{FF2B5EF4-FFF2-40B4-BE49-F238E27FC236}">
                <a16:creationId xmlns:a16="http://schemas.microsoft.com/office/drawing/2014/main" id="{6FC957C6-231C-4118-C161-CD08D041309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723" y="4484191"/>
            <a:ext cx="750707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last setup step is to update the </a:t>
            </a:r>
            <a:r>
              <a:rPr lang="en-US" b="1" dirty="0">
                <a:solidFill>
                  <a:schemeClr val="accent1"/>
                </a:solidFill>
              </a:rPr>
              <a:t>Maven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project</a:t>
            </a:r>
            <a:r>
              <a:rPr lang="en-US" dirty="0">
                <a:solidFill>
                  <a:schemeClr val="accent1"/>
                </a:solidFill>
              </a:rPr>
              <a:t> so Eclipse downloads the required dependencies. I will right-click the </a:t>
            </a:r>
            <a:r>
              <a:rPr lang="en-US" b="1" dirty="0">
                <a:solidFill>
                  <a:schemeClr val="accent1"/>
                </a:solidFill>
              </a:rPr>
              <a:t>pom.xml </a:t>
            </a:r>
            <a:r>
              <a:rPr lang="en-US" dirty="0">
                <a:solidFill>
                  <a:schemeClr val="accent1"/>
                </a:solidFill>
              </a:rPr>
              <a:t>file, go to </a:t>
            </a:r>
            <a:r>
              <a:rPr lang="en-US" b="1" dirty="0">
                <a:solidFill>
                  <a:schemeClr val="accent1"/>
                </a:solidFill>
              </a:rPr>
              <a:t>Maven</a:t>
            </a:r>
            <a:r>
              <a:rPr lang="en-US" dirty="0">
                <a:solidFill>
                  <a:schemeClr val="accent1"/>
                </a:solidFill>
              </a:rPr>
              <a:t>, and select </a:t>
            </a:r>
            <a:r>
              <a:rPr lang="en-US" b="1" dirty="0">
                <a:solidFill>
                  <a:schemeClr val="accent1"/>
                </a:solidFill>
              </a:rPr>
              <a:t>Update Project</a:t>
            </a:r>
            <a:r>
              <a:rPr lang="en-US" dirty="0">
                <a:solidFill>
                  <a:schemeClr val="accent1"/>
                </a:solidFill>
              </a:rPr>
              <a:t>. Before clicking </a:t>
            </a:r>
            <a:r>
              <a:rPr lang="en-US" b="1" dirty="0">
                <a:solidFill>
                  <a:schemeClr val="accent1"/>
                </a:solidFill>
              </a:rPr>
              <a:t>OK</a:t>
            </a:r>
            <a:r>
              <a:rPr lang="en-US" dirty="0">
                <a:solidFill>
                  <a:schemeClr val="accent1"/>
                </a:solidFill>
              </a:rPr>
              <a:t>, I will enable </a:t>
            </a:r>
            <a:r>
              <a:rPr lang="en-US" b="1" dirty="0">
                <a:solidFill>
                  <a:schemeClr val="accent1"/>
                </a:solidFill>
              </a:rPr>
              <a:t>Force Update of Snapshots/Releases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11" name="Arrow Move" descr="Cursor with solid fill">
            <a:extLst>
              <a:ext uri="{FF2B5EF4-FFF2-40B4-BE49-F238E27FC236}">
                <a16:creationId xmlns:a16="http://schemas.microsoft.com/office/drawing/2014/main" id="{7C11782D-B49E-359E-36ED-75EF0E5DEB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16918">
            <a:off x="2021817" y="2212539"/>
            <a:ext cx="333375" cy="333375"/>
          </a:xfrm>
          <a:prstGeom prst="rect">
            <a:avLst/>
          </a:prstGeom>
        </p:spPr>
      </p:pic>
      <p:pic>
        <p:nvPicPr>
          <p:cNvPr id="20" name="16">
            <a:hlinkClick r:id="" action="ppaction://media"/>
            <a:extLst>
              <a:ext uri="{FF2B5EF4-FFF2-40B4-BE49-F238E27FC236}">
                <a16:creationId xmlns:a16="http://schemas.microsoft.com/office/drawing/2014/main" id="{30AABB17-24A6-B47D-FC8B-7202E7DAA5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469189" y="607640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11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8000">
        <p:fade/>
      </p:transition>
    </mc:Choice>
    <mc:Fallback>
      <p:transition spd="med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autoRev="1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animScale>
                                      <p:cBhvr>
                                        <p:cTn id="15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Motion origin="layout" path="M 0.00508 0.01042 L 0.10638 0.523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65" y="2564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animMotion origin="layout" path="M 0.10638 0.52338 L 0.30677 0.6069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13" y="4167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autoRev="1" fill="hold" nodeType="withEffect">
                                  <p:stCondLst>
                                    <p:cond delay="11500"/>
                                  </p:stCondLst>
                                  <p:childTnLst>
                                    <p:animScale>
                                      <p:cBhvr>
                                        <p:cTn id="24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13000"/>
                                  </p:stCondLst>
                                  <p:childTnLst>
                                    <p:animMotion origin="layout" path="M 0.30677 0.60695 L 0.20521 0.15301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78" y="-2270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" presetClass="emph" presetSubtype="0" autoRev="1" fill="hold" nodeType="withEffect">
                                  <p:stCondLst>
                                    <p:cond delay="15000"/>
                                  </p:stCondLst>
                                  <p:childTnLst>
                                    <p:animScale>
                                      <p:cBhvr>
                                        <p:cTn id="31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15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15500"/>
                                  </p:stCondLst>
                                  <p:childTnLst>
                                    <p:animMotion origin="layout" path="M 0.20521 0.15301 L 0.41732 0.26921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99" y="581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autoRev="1" fill="hold" nodeType="withEffect">
                                  <p:stCondLst>
                                    <p:cond delay="17500"/>
                                  </p:stCondLst>
                                  <p:childTnLst>
                                    <p:animScale>
                                      <p:cBhvr>
                                        <p:cTn id="38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  <p:bldLst>
      <p:bldP spid="4" grpId="0" animBg="1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7F90-3C53-60E8-237A-88D42270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creenshot4">
            <a:extLst>
              <a:ext uri="{FF2B5EF4-FFF2-40B4-BE49-F238E27FC236}">
                <a16:creationId xmlns:a16="http://schemas.microsoft.com/office/drawing/2014/main" id="{B820C456-3436-7FEC-C3CA-AB644B69A2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29" name="Screenshot3">
            <a:extLst>
              <a:ext uri="{FF2B5EF4-FFF2-40B4-BE49-F238E27FC236}">
                <a16:creationId xmlns:a16="http://schemas.microsoft.com/office/drawing/2014/main" id="{33CDDC2A-84E9-9465-2CEF-E69410E0ED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27" name="Screenshot2">
            <a:extLst>
              <a:ext uri="{FF2B5EF4-FFF2-40B4-BE49-F238E27FC236}">
                <a16:creationId xmlns:a16="http://schemas.microsoft.com/office/drawing/2014/main" id="{CC1C12BC-B727-9AA7-7C6E-42D7DC1EB2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0765" y="8092"/>
            <a:ext cx="9696243" cy="6858000"/>
          </a:xfrm>
          <a:prstGeom prst="rect">
            <a:avLst/>
          </a:prstGeom>
        </p:spPr>
      </p:pic>
      <p:pic>
        <p:nvPicPr>
          <p:cNvPr id="20" name="Arrow Move2" descr="Cursor with solid fill">
            <a:extLst>
              <a:ext uri="{FF2B5EF4-FFF2-40B4-BE49-F238E27FC236}">
                <a16:creationId xmlns:a16="http://schemas.microsoft.com/office/drawing/2014/main" id="{496E228A-A659-770A-38C8-0F09923A6D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7554071" y="4987079"/>
            <a:ext cx="333375" cy="333375"/>
          </a:xfrm>
          <a:prstGeom prst="rect">
            <a:avLst/>
          </a:prstGeom>
        </p:spPr>
      </p:pic>
      <p:sp>
        <p:nvSpPr>
          <p:cNvPr id="17" name="classname">
            <a:extLst>
              <a:ext uri="{FF2B5EF4-FFF2-40B4-BE49-F238E27FC236}">
                <a16:creationId xmlns:a16="http://schemas.microsoft.com/office/drawing/2014/main" id="{DB4DC624-BB16-BB0B-9630-E2857EE0EC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117745" y="1913863"/>
            <a:ext cx="6944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DemoTest</a:t>
            </a:r>
            <a:endParaRPr lang="en-US" sz="900" dirty="0"/>
          </a:p>
        </p:txBody>
      </p:sp>
      <p:pic>
        <p:nvPicPr>
          <p:cNvPr id="25" name="Screenshot1">
            <a:extLst>
              <a:ext uri="{FF2B5EF4-FFF2-40B4-BE49-F238E27FC236}">
                <a16:creationId xmlns:a16="http://schemas.microsoft.com/office/drawing/2014/main" id="{08871875-D915-90B0-C145-3992212B6F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4" name="Caption1">
            <a:extLst>
              <a:ext uri="{FF2B5EF4-FFF2-40B4-BE49-F238E27FC236}">
                <a16:creationId xmlns:a16="http://schemas.microsoft.com/office/drawing/2014/main" id="{F18B2FAA-59FE-BABE-1C0E-817DD36A39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35086" y="5411653"/>
            <a:ext cx="762870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 create a Java test class, I will use the </a:t>
            </a:r>
            <a:r>
              <a:rPr lang="en-US" b="1" dirty="0">
                <a:solidFill>
                  <a:schemeClr val="accent1"/>
                </a:solidFill>
              </a:rPr>
              <a:t>Maven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/test/java folder. I will right-click the folder, choose </a:t>
            </a:r>
            <a:r>
              <a:rPr lang="en-US" b="1" dirty="0">
                <a:solidFill>
                  <a:schemeClr val="accent1"/>
                </a:solidFill>
              </a:rPr>
              <a:t>New</a:t>
            </a:r>
            <a:r>
              <a:rPr lang="en-US" dirty="0">
                <a:solidFill>
                  <a:schemeClr val="accent1"/>
                </a:solidFill>
              </a:rPr>
              <a:t>, and then select </a:t>
            </a:r>
            <a:r>
              <a:rPr lang="en-US" b="1" dirty="0">
                <a:solidFill>
                  <a:schemeClr val="accent1"/>
                </a:solidFill>
              </a:rPr>
              <a:t>Class</a:t>
            </a:r>
            <a:r>
              <a:rPr lang="en-US" dirty="0">
                <a:solidFill>
                  <a:schemeClr val="accent1"/>
                </a:solidFill>
              </a:rPr>
              <a:t>. In the dialog, I will enter the class name, optionally define a package name, and click </a:t>
            </a:r>
            <a:r>
              <a:rPr lang="en-US" b="1" dirty="0">
                <a:solidFill>
                  <a:schemeClr val="accent1"/>
                </a:solidFill>
              </a:rPr>
              <a:t>Finish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11" name="Arrow Move1" descr="Cursor with solid fill">
            <a:extLst>
              <a:ext uri="{FF2B5EF4-FFF2-40B4-BE49-F238E27FC236}">
                <a16:creationId xmlns:a16="http://schemas.microsoft.com/office/drawing/2014/main" id="{1906DEF2-796B-5960-5FAD-E0891944D3C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2089828" y="1381769"/>
            <a:ext cx="333375" cy="333375"/>
          </a:xfrm>
          <a:prstGeom prst="rect">
            <a:avLst/>
          </a:prstGeom>
        </p:spPr>
      </p:pic>
      <p:pic>
        <p:nvPicPr>
          <p:cNvPr id="21" name="17">
            <a:hlinkClick r:id="" action="ppaction://media"/>
            <a:extLst>
              <a:ext uri="{FF2B5EF4-FFF2-40B4-BE49-F238E27FC236}">
                <a16:creationId xmlns:a16="http://schemas.microsoft.com/office/drawing/2014/main" id="{A50B2A63-65DB-6A01-5615-18F38C8839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364686" y="603018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90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5500">
        <p:fade/>
      </p:transition>
    </mc:Choice>
    <mc:Fallback>
      <p:transition spd="med" advTm="15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6" presetClass="emph" presetSubtype="0" autoRev="1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animScale>
                                      <p:cBhvr>
                                        <p:cTn id="19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6750"/>
                                  </p:stCondLst>
                                  <p:childTnLst>
                                    <p:animMotion origin="layout" path="M 3.95833E-6 -4.44444E-6 L 0.09231 0.01783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09" y="88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7750"/>
                                  </p:stCondLst>
                                  <p:childTnLst>
                                    <p:animMotion origin="layout" path="M 0.09231 0.01783 L 0.28333 0.11852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5023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11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1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5000"/>
                                  </p:stCondLst>
                                  <p:childTnLst>
                                    <p:animScale>
                                      <p:cBhvr>
                                        <p:cTn id="46" dur="200" fill="hold"/>
                                        <p:tgtEl>
                                          <p:spTgt spid="2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17" grpId="0"/>
      <p:bldP spid="17" grpId="1"/>
      <p:bldP spid="4" grpId="0" animBg="1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7F90-3C53-60E8-237A-88D42270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Screenshot3">
            <a:extLst>
              <a:ext uri="{FF2B5EF4-FFF2-40B4-BE49-F238E27FC236}">
                <a16:creationId xmlns:a16="http://schemas.microsoft.com/office/drawing/2014/main" id="{5A5DDA8C-4735-8793-1B6C-99644220F7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29" name="Screenshot2">
            <a:extLst>
              <a:ext uri="{FF2B5EF4-FFF2-40B4-BE49-F238E27FC236}">
                <a16:creationId xmlns:a16="http://schemas.microsoft.com/office/drawing/2014/main" id="{48DEEAF7-889E-DACB-7A1E-3DA377F30A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pic>
        <p:nvPicPr>
          <p:cNvPr id="10" name="Screenshot1">
            <a:extLst>
              <a:ext uri="{FF2B5EF4-FFF2-40B4-BE49-F238E27FC236}">
                <a16:creationId xmlns:a16="http://schemas.microsoft.com/office/drawing/2014/main" id="{45B0E36F-9DD2-D497-3512-246D87C9D2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25" name="Caption1">
            <a:extLst>
              <a:ext uri="{FF2B5EF4-FFF2-40B4-BE49-F238E27FC236}">
                <a16:creationId xmlns:a16="http://schemas.microsoft.com/office/drawing/2014/main" id="{5D8909F3-0F82-226C-BC57-E2DF01BB13B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35086" y="5411653"/>
            <a:ext cx="7628709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First, we need to make sure the project is using </a:t>
            </a:r>
            <a:r>
              <a:rPr lang="en-US" b="1" dirty="0">
                <a:solidFill>
                  <a:schemeClr val="accent1"/>
                </a:solidFill>
              </a:rPr>
              <a:t>JDK 11 </a:t>
            </a:r>
            <a:r>
              <a:rPr lang="en-US" dirty="0">
                <a:solidFill>
                  <a:schemeClr val="accent1"/>
                </a:solidFill>
              </a:rPr>
              <a:t>or higher. In my case, I will right-click the JRE System Library, open Properties, select </a:t>
            </a:r>
            <a:r>
              <a:rPr lang="en-US" b="1" dirty="0">
                <a:solidFill>
                  <a:schemeClr val="accent1"/>
                </a:solidFill>
              </a:rPr>
              <a:t>Alternate JRE</a:t>
            </a:r>
            <a:r>
              <a:rPr lang="en-US" dirty="0">
                <a:solidFill>
                  <a:schemeClr val="accent1"/>
                </a:solidFill>
              </a:rPr>
              <a:t>, choose </a:t>
            </a:r>
            <a:r>
              <a:rPr lang="en-US" b="1" dirty="0">
                <a:solidFill>
                  <a:schemeClr val="accent1"/>
                </a:solidFill>
              </a:rPr>
              <a:t>Java 17</a:t>
            </a:r>
            <a:r>
              <a:rPr lang="en-US" dirty="0">
                <a:solidFill>
                  <a:schemeClr val="accent1"/>
                </a:solidFill>
              </a:rPr>
              <a:t>, and click </a:t>
            </a:r>
            <a:r>
              <a:rPr lang="en-US" b="1" dirty="0">
                <a:solidFill>
                  <a:schemeClr val="accent1"/>
                </a:solidFill>
              </a:rPr>
              <a:t>Apply and Close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pic>
        <p:nvPicPr>
          <p:cNvPr id="27" name="Arrow Move" descr="Cursor with solid fill">
            <a:extLst>
              <a:ext uri="{FF2B5EF4-FFF2-40B4-BE49-F238E27FC236}">
                <a16:creationId xmlns:a16="http://schemas.microsoft.com/office/drawing/2014/main" id="{5FBF32BA-EA18-64EA-6E07-18D28816793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2547028" y="1939330"/>
            <a:ext cx="333375" cy="333375"/>
          </a:xfrm>
          <a:prstGeom prst="rect">
            <a:avLst/>
          </a:prstGeom>
        </p:spPr>
      </p:pic>
      <p:pic>
        <p:nvPicPr>
          <p:cNvPr id="26" name="18">
            <a:hlinkClick r:id="" action="ppaction://media"/>
            <a:extLst>
              <a:ext uri="{FF2B5EF4-FFF2-40B4-BE49-F238E27FC236}">
                <a16:creationId xmlns:a16="http://schemas.microsoft.com/office/drawing/2014/main" id="{8104176B-3B03-0427-4352-E49FE81EE3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433717" y="603018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95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4000">
        <p:fade/>
      </p:transition>
    </mc:Choice>
    <mc:Fallback>
      <p:transition spd="med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autoRev="1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animScale>
                                      <p:cBhvr>
                                        <p:cTn id="15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animMotion origin="layout" path="M 3.95833E-6 4.07407E-6 L 0.09296 0.28472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48" y="1423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7500"/>
                                  </p:stCondLst>
                                  <p:childTnLst>
                                    <p:animScale>
                                      <p:cBhvr>
                                        <p:cTn id="22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Motion origin="layout" path="M 0.09297 0.28472 L 0.45247 -0.04746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812" y="-1652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11000"/>
                                  </p:stCondLst>
                                  <p:childTnLst>
                                    <p:animMotion origin="layout" path="M 0.45247 -0.04745 L 0.45481 0.34421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19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0"/>
                            </p:stCondLst>
                            <p:childTnLst>
                              <p:par>
                                <p:cTn id="31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50" fill="hold"/>
                                        <p:tgtEl>
                                          <p:spTgt spid="2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25" grpId="0" animBg="1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DFCA-E073-D612-5BD1-92014AA3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Screenshot2">
            <a:extLst>
              <a:ext uri="{FF2B5EF4-FFF2-40B4-BE49-F238E27FC236}">
                <a16:creationId xmlns:a16="http://schemas.microsoft.com/office/drawing/2014/main" id="{D2AC9208-26EE-8886-3197-98F4D37350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015" y="0"/>
            <a:ext cx="9723020" cy="6858000"/>
          </a:xfrm>
          <a:prstGeom prst="rect">
            <a:avLst/>
          </a:prstGeom>
        </p:spPr>
      </p:pic>
      <p:pic>
        <p:nvPicPr>
          <p:cNvPr id="38" name="Screenshot3">
            <a:extLst>
              <a:ext uri="{FF2B5EF4-FFF2-40B4-BE49-F238E27FC236}">
                <a16:creationId xmlns:a16="http://schemas.microsoft.com/office/drawing/2014/main" id="{1B8720C7-2D6E-6F5F-DA91-9B5ABF3D63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015" y="0"/>
            <a:ext cx="9723020" cy="6858000"/>
          </a:xfrm>
          <a:prstGeom prst="rect">
            <a:avLst/>
          </a:prstGeom>
        </p:spPr>
      </p:pic>
      <p:pic>
        <p:nvPicPr>
          <p:cNvPr id="30" name="Screenshot1">
            <a:extLst>
              <a:ext uri="{FF2B5EF4-FFF2-40B4-BE49-F238E27FC236}">
                <a16:creationId xmlns:a16="http://schemas.microsoft.com/office/drawing/2014/main" id="{C7A92622-D78F-9A4D-B21D-1199E4326D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780" y="9525"/>
            <a:ext cx="9730540" cy="6858000"/>
          </a:xfrm>
          <a:prstGeom prst="rect">
            <a:avLst/>
          </a:prstGeom>
        </p:spPr>
      </p:pic>
      <p:sp>
        <p:nvSpPr>
          <p:cNvPr id="4" name="Caption1">
            <a:extLst>
              <a:ext uri="{FF2B5EF4-FFF2-40B4-BE49-F238E27FC236}">
                <a16:creationId xmlns:a16="http://schemas.microsoft.com/office/drawing/2014/main" id="{3AD1F509-9E04-2A95-237A-7ED270D83F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20811" y="5878378"/>
            <a:ext cx="762870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Drag both exported Postman JSON files into </a:t>
            </a:r>
            <a:r>
              <a:rPr lang="en-US" b="1" dirty="0" err="1">
                <a:solidFill>
                  <a:schemeClr val="accent1"/>
                </a:solidFill>
              </a:rPr>
              <a:t>src</a:t>
            </a:r>
            <a:r>
              <a:rPr lang="en-US" b="1" dirty="0">
                <a:solidFill>
                  <a:schemeClr val="accent1"/>
                </a:solidFill>
              </a:rPr>
              <a:t>/test/resources</a:t>
            </a:r>
            <a:r>
              <a:rPr lang="en-US" dirty="0">
                <a:solidFill>
                  <a:schemeClr val="accent1"/>
                </a:solidFill>
              </a:rPr>
              <a:t>, then add spacing in the Java test class to prepare for writing the code.</a:t>
            </a:r>
          </a:p>
        </p:txBody>
      </p:sp>
      <p:pic>
        <p:nvPicPr>
          <p:cNvPr id="11" name="Arrow Move" descr="Cursor with solid fill">
            <a:extLst>
              <a:ext uri="{FF2B5EF4-FFF2-40B4-BE49-F238E27FC236}">
                <a16:creationId xmlns:a16="http://schemas.microsoft.com/office/drawing/2014/main" id="{49AEDE4C-D48D-0C79-E6BB-EF231449104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4813978" y="3181994"/>
            <a:ext cx="333375" cy="333375"/>
          </a:xfrm>
          <a:prstGeom prst="rect">
            <a:avLst/>
          </a:prstGeom>
        </p:spPr>
      </p:pic>
      <p:pic>
        <p:nvPicPr>
          <p:cNvPr id="24" name="19">
            <a:hlinkClick r:id="" action="ppaction://media"/>
            <a:extLst>
              <a:ext uri="{FF2B5EF4-FFF2-40B4-BE49-F238E27FC236}">
                <a16:creationId xmlns:a16="http://schemas.microsoft.com/office/drawing/2014/main" id="{797CAFF1-CA28-5A08-F91A-96C5D11DA74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487150" y="6057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5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0000"/>
    </mc:Choice>
    <mc:Fallback>
      <p:transition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54167E-6 -4.44444E-6 L -0.21783 -0.20486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98" y="-1025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  <p:bldLst>
      <p:bldP spid="4" grpId="0" animBg="1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DFCA-E073-D612-5BD1-92014AA3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Screenshot3">
            <a:extLst>
              <a:ext uri="{FF2B5EF4-FFF2-40B4-BE49-F238E27FC236}">
                <a16:creationId xmlns:a16="http://schemas.microsoft.com/office/drawing/2014/main" id="{C8B525BA-0712-8C90-1CB6-4B48963F39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4243" y="-909843"/>
            <a:ext cx="18476316" cy="13032018"/>
          </a:xfrm>
          <a:prstGeom prst="rect">
            <a:avLst/>
          </a:prstGeom>
        </p:spPr>
      </p:pic>
      <p:pic>
        <p:nvPicPr>
          <p:cNvPr id="48" name="Screenshot2">
            <a:extLst>
              <a:ext uri="{FF2B5EF4-FFF2-40B4-BE49-F238E27FC236}">
                <a16:creationId xmlns:a16="http://schemas.microsoft.com/office/drawing/2014/main" id="{745CEC97-D910-24B8-8B44-853BBB9896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793" y="2281677"/>
            <a:ext cx="9802593" cy="828791"/>
          </a:xfrm>
          <a:prstGeom prst="rect">
            <a:avLst/>
          </a:prstGeom>
        </p:spPr>
      </p:pic>
      <p:pic>
        <p:nvPicPr>
          <p:cNvPr id="39" name="Screenshot1">
            <a:extLst>
              <a:ext uri="{FF2B5EF4-FFF2-40B4-BE49-F238E27FC236}">
                <a16:creationId xmlns:a16="http://schemas.microsoft.com/office/drawing/2014/main" id="{21DC46C1-D049-F50A-3DE6-1ED2675DCC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0" y="-914400"/>
            <a:ext cx="18476316" cy="13032018"/>
          </a:xfrm>
          <a:prstGeom prst="rect">
            <a:avLst/>
          </a:prstGeom>
        </p:spPr>
      </p:pic>
      <p:sp>
        <p:nvSpPr>
          <p:cNvPr id="10" name="testng">
            <a:extLst>
              <a:ext uri="{FF2B5EF4-FFF2-40B4-BE49-F238E27FC236}">
                <a16:creationId xmlns:a16="http://schemas.microsoft.com/office/drawing/2014/main" id="{E0270336-483B-5CAC-F1A5-D5B80D47F7D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24075" y="533947"/>
            <a:ext cx="3719288" cy="312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0" b="1" dirty="0">
                <a:solidFill>
                  <a:srgbClr val="950055"/>
                </a:solidFill>
                <a:latin typeface="Consolas" panose="020B0609020204030204" pitchFamily="49" charset="0"/>
              </a:rPr>
              <a:t>import </a:t>
            </a:r>
            <a:r>
              <a:rPr lang="en-US" sz="143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org.testng.annotations.Test;</a:t>
            </a:r>
          </a:p>
        </p:txBody>
      </p:sp>
      <p:sp>
        <p:nvSpPr>
          <p:cNvPr id="12" name="testng">
            <a:extLst>
              <a:ext uri="{FF2B5EF4-FFF2-40B4-BE49-F238E27FC236}">
                <a16:creationId xmlns:a16="http://schemas.microsoft.com/office/drawing/2014/main" id="{634CAF70-DA47-84B2-F361-E88FFAE81A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7662" y="1781722"/>
            <a:ext cx="790601" cy="312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@Test;</a:t>
            </a:r>
          </a:p>
        </p:txBody>
      </p:sp>
      <p:sp>
        <p:nvSpPr>
          <p:cNvPr id="15" name="testng">
            <a:extLst>
              <a:ext uri="{FF2B5EF4-FFF2-40B4-BE49-F238E27FC236}">
                <a16:creationId xmlns:a16="http://schemas.microsoft.com/office/drawing/2014/main" id="{4B7CDB5F-4723-AA35-717B-A088793741A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7662" y="2013400"/>
            <a:ext cx="4022255" cy="312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0" b="1" dirty="0">
                <a:solidFill>
                  <a:srgbClr val="950055"/>
                </a:solidFill>
                <a:latin typeface="Consolas" panose="020B0609020204030204" pitchFamily="49" charset="0"/>
              </a:rPr>
              <a:t>public void </a:t>
            </a:r>
            <a:r>
              <a:rPr lang="en-US" sz="1430" b="1" dirty="0">
                <a:solidFill>
                  <a:srgbClr val="070504"/>
                </a:solidFill>
                <a:latin typeface="Consolas" panose="020B0609020204030204" pitchFamily="49" charset="0"/>
              </a:rPr>
              <a:t>test1() </a:t>
            </a:r>
            <a:r>
              <a:rPr lang="en-US" sz="1430" b="1" dirty="0">
                <a:solidFill>
                  <a:srgbClr val="950055"/>
                </a:solidFill>
                <a:latin typeface="Consolas" panose="020B0609020204030204" pitchFamily="49" charset="0"/>
              </a:rPr>
              <a:t>throws</a:t>
            </a:r>
            <a:r>
              <a:rPr lang="en-US" sz="143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30" b="1" dirty="0">
                <a:solidFill>
                  <a:srgbClr val="070504"/>
                </a:solidFill>
                <a:latin typeface="Consolas" panose="020B0609020204030204" pitchFamily="49" charset="0"/>
              </a:rPr>
              <a:t>Exception {</a:t>
            </a:r>
          </a:p>
        </p:txBody>
      </p:sp>
      <p:sp>
        <p:nvSpPr>
          <p:cNvPr id="16" name="testng">
            <a:extLst>
              <a:ext uri="{FF2B5EF4-FFF2-40B4-BE49-F238E27FC236}">
                <a16:creationId xmlns:a16="http://schemas.microsoft.com/office/drawing/2014/main" id="{C4E0697B-F154-CF51-E3D7-A38E7938186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8137" y="3061150"/>
            <a:ext cx="285656" cy="312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0" b="1" dirty="0">
                <a:solidFill>
                  <a:srgbClr val="070504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stng">
            <a:extLst>
              <a:ext uri="{FF2B5EF4-FFF2-40B4-BE49-F238E27FC236}">
                <a16:creationId xmlns:a16="http://schemas.microsoft.com/office/drawing/2014/main" id="{42B00099-030F-A1D2-F6EC-A499A875614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24075" y="733972"/>
            <a:ext cx="3113353" cy="312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0" b="1" dirty="0">
                <a:solidFill>
                  <a:srgbClr val="950055"/>
                </a:solidFill>
                <a:latin typeface="Consolas" panose="020B0609020204030204" pitchFamily="49" charset="0"/>
              </a:rPr>
              <a:t>import </a:t>
            </a:r>
            <a:r>
              <a:rPr lang="en-US" sz="143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io.jpostman.JPostman;</a:t>
            </a:r>
          </a:p>
        </p:txBody>
      </p:sp>
      <p:sp>
        <p:nvSpPr>
          <p:cNvPr id="19" name="testng">
            <a:extLst>
              <a:ext uri="{FF2B5EF4-FFF2-40B4-BE49-F238E27FC236}">
                <a16:creationId xmlns:a16="http://schemas.microsoft.com/office/drawing/2014/main" id="{F551C4D2-70A3-CDFC-E619-98F8AEB6C4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24075" y="933997"/>
            <a:ext cx="3921266" cy="312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0" b="1" dirty="0">
                <a:solidFill>
                  <a:srgbClr val="950055"/>
                </a:solidFill>
                <a:latin typeface="Consolas" panose="020B0609020204030204" pitchFamily="49" charset="0"/>
              </a:rPr>
              <a:t>import </a:t>
            </a:r>
            <a:r>
              <a:rPr lang="en-US" sz="143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io.jpostman.JPostman.Context;</a:t>
            </a:r>
          </a:p>
        </p:txBody>
      </p:sp>
      <p:sp>
        <p:nvSpPr>
          <p:cNvPr id="4" name="Caption1">
            <a:extLst>
              <a:ext uri="{FF2B5EF4-FFF2-40B4-BE49-F238E27FC236}">
                <a16:creationId xmlns:a16="http://schemas.microsoft.com/office/drawing/2014/main" id="{3AD1F509-9E04-2A95-237A-7ED270D83F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8137" y="4742587"/>
            <a:ext cx="918663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First, I will add the </a:t>
            </a:r>
            <a:r>
              <a:rPr lang="en-US" b="1" dirty="0">
                <a:solidFill>
                  <a:schemeClr val="accent1"/>
                </a:solidFill>
              </a:rPr>
              <a:t>TestNG</a:t>
            </a:r>
            <a:r>
              <a:rPr lang="en-US" dirty="0">
                <a:solidFill>
                  <a:schemeClr val="accent1"/>
                </a:solidFill>
              </a:rPr>
              <a:t> annotation and create a test method that will be executed by the test runner. Then I will add the required </a:t>
            </a:r>
            <a:r>
              <a:rPr lang="en-US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classes, including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b="1" dirty="0">
                <a:solidFill>
                  <a:schemeClr val="accent1"/>
                </a:solidFill>
              </a:rPr>
              <a:t>Context</a:t>
            </a:r>
            <a:r>
              <a:rPr lang="en-US" dirty="0">
                <a:solidFill>
                  <a:schemeClr val="accent1"/>
                </a:solidFill>
              </a:rPr>
              <a:t>, and paste the implementation that loads the collection and environment JSON files from the project resources folder.</a:t>
            </a:r>
          </a:p>
        </p:txBody>
      </p:sp>
      <p:pic>
        <p:nvPicPr>
          <p:cNvPr id="46" name="20">
            <a:hlinkClick r:id="" action="ppaction://media"/>
            <a:extLst>
              <a:ext uri="{FF2B5EF4-FFF2-40B4-BE49-F238E27FC236}">
                <a16:creationId xmlns:a16="http://schemas.microsoft.com/office/drawing/2014/main" id="{9C55C02F-77C8-1B65-303C-B20F0A0F71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525375" y="51816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569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9000">
        <p159:morph option="byObject"/>
      </p:transition>
    </mc:Choice>
    <mc:Fallback>
      <p:transition spd="slow" advTm="1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  <p:bldLst>
      <p:bldP spid="10" grpId="0"/>
      <p:bldP spid="12" grpId="0"/>
      <p:bldP spid="15" grpId="0"/>
      <p:bldP spid="16" grpId="0"/>
      <p:bldP spid="18" grpId="0"/>
      <p:bldP spid="19" grpId="0"/>
      <p:bldP spid="4" grpId="0" animBg="1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DFCA-E073-D612-5BD1-92014AA3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shot3">
            <a:extLst>
              <a:ext uri="{FF2B5EF4-FFF2-40B4-BE49-F238E27FC236}">
                <a16:creationId xmlns:a16="http://schemas.microsoft.com/office/drawing/2014/main" id="{26439024-BBCF-5578-6570-0058A0BB25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8016" y="-914400"/>
            <a:ext cx="18490605" cy="13060598"/>
          </a:xfrm>
          <a:prstGeom prst="rect">
            <a:avLst/>
          </a:prstGeom>
        </p:spPr>
      </p:pic>
      <p:pic>
        <p:nvPicPr>
          <p:cNvPr id="22" name="Screenshot2">
            <a:extLst>
              <a:ext uri="{FF2B5EF4-FFF2-40B4-BE49-F238E27FC236}">
                <a16:creationId xmlns:a16="http://schemas.microsoft.com/office/drawing/2014/main" id="{4B172479-84BA-AB7E-505C-CAF61B342E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8016" y="-914400"/>
            <a:ext cx="18473738" cy="13030200"/>
          </a:xfrm>
          <a:prstGeom prst="rect">
            <a:avLst/>
          </a:prstGeom>
        </p:spPr>
      </p:pic>
      <p:pic>
        <p:nvPicPr>
          <p:cNvPr id="26" name="Screenshot1">
            <a:extLst>
              <a:ext uri="{FF2B5EF4-FFF2-40B4-BE49-F238E27FC236}">
                <a16:creationId xmlns:a16="http://schemas.microsoft.com/office/drawing/2014/main" id="{2B7D64D8-D74A-6492-D09D-C5751B1DAD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" y="2485859"/>
            <a:ext cx="2353003" cy="2381582"/>
          </a:xfrm>
          <a:prstGeom prst="rect">
            <a:avLst/>
          </a:prstGeom>
        </p:spPr>
      </p:pic>
      <p:sp>
        <p:nvSpPr>
          <p:cNvPr id="4" name="Caption1">
            <a:extLst>
              <a:ext uri="{FF2B5EF4-FFF2-40B4-BE49-F238E27FC236}">
                <a16:creationId xmlns:a16="http://schemas.microsoft.com/office/drawing/2014/main" id="{3AD1F509-9E04-2A95-237A-7ED270D83F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00674" y="4485412"/>
            <a:ext cx="612457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After saving the Java class, I will right-click the file and choose the runner for execution. Since this project uses TestNG, I will open </a:t>
            </a:r>
            <a:r>
              <a:rPr lang="en-US" b="1" dirty="0">
                <a:solidFill>
                  <a:schemeClr val="accent1"/>
                </a:solidFill>
              </a:rPr>
              <a:t>Run As </a:t>
            </a:r>
            <a:r>
              <a:rPr lang="en-US" dirty="0">
                <a:solidFill>
                  <a:schemeClr val="accent1"/>
                </a:solidFill>
              </a:rPr>
              <a:t>and select </a:t>
            </a:r>
            <a:r>
              <a:rPr lang="en-US" b="1" dirty="0">
                <a:solidFill>
                  <a:schemeClr val="accent1"/>
                </a:solidFill>
              </a:rPr>
              <a:t>TestNG Test.</a:t>
            </a:r>
          </a:p>
        </p:txBody>
      </p:sp>
      <p:pic>
        <p:nvPicPr>
          <p:cNvPr id="13" name="Arrow Move" descr="Cursor with solid fill">
            <a:extLst>
              <a:ext uri="{FF2B5EF4-FFF2-40B4-BE49-F238E27FC236}">
                <a16:creationId xmlns:a16="http://schemas.microsoft.com/office/drawing/2014/main" id="{87353D97-F07A-8FDC-138B-9AC3DEB0E04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16918">
            <a:off x="2213653" y="2324744"/>
            <a:ext cx="333375" cy="333375"/>
          </a:xfrm>
          <a:prstGeom prst="rect">
            <a:avLst/>
          </a:prstGeom>
        </p:spPr>
      </p:pic>
      <p:pic>
        <p:nvPicPr>
          <p:cNvPr id="14" name="21">
            <a:hlinkClick r:id="" action="ppaction://media"/>
            <a:extLst>
              <a:ext uri="{FF2B5EF4-FFF2-40B4-BE49-F238E27FC236}">
                <a16:creationId xmlns:a16="http://schemas.microsoft.com/office/drawing/2014/main" id="{B7A115B4-A57F-D13F-5AD4-403FA2A4E4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953875" y="52292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97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1000">
        <p:fade/>
      </p:transition>
    </mc:Choice>
    <mc:Fallback>
      <p:transition spd="med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autoRev="1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Scale>
                                      <p:cBhvr>
                                        <p:cTn id="15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animMotion origin="layout" path="M -2.29167E-6 -4.44444E-6 L 0.19466 0.5437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27" y="2717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7750"/>
                                  </p:stCondLst>
                                  <p:childTnLst>
                                    <p:animMotion origin="layout" path="M 0.19466 0.54375 L 0.52591 0.5229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63" y="-104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autoRev="1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animScale>
                                      <p:cBhvr>
                                        <p:cTn id="24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4" grpId="0" animBg="1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DFCA-E073-D612-5BD1-92014AA3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754505-8AF1-F2AE-A8CA-A21C631157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90" y="0"/>
            <a:ext cx="9723020" cy="6858000"/>
          </a:xfrm>
          <a:prstGeom prst="rect">
            <a:avLst/>
          </a:prstGeom>
        </p:spPr>
      </p:pic>
      <p:sp>
        <p:nvSpPr>
          <p:cNvPr id="4" name="Caption1">
            <a:extLst>
              <a:ext uri="{FF2B5EF4-FFF2-40B4-BE49-F238E27FC236}">
                <a16:creationId xmlns:a16="http://schemas.microsoft.com/office/drawing/2014/main" id="{3AD1F509-9E04-2A95-237A-7ED270D83F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95500" y="5599836"/>
            <a:ext cx="866775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Congratulations</a:t>
            </a:r>
            <a:r>
              <a:rPr lang="en-US" dirty="0">
                <a:solidFill>
                  <a:schemeClr val="accent1"/>
                </a:solidFill>
              </a:rPr>
              <a:t>! The Java project is now configured with </a:t>
            </a:r>
            <a:r>
              <a:rPr lang="en-US" b="1" dirty="0" err="1">
                <a:solidFill>
                  <a:schemeClr val="accent1"/>
                </a:solidFill>
              </a:rPr>
              <a:t>JPostman</a:t>
            </a:r>
            <a:r>
              <a:rPr lang="en-US" dirty="0">
                <a:solidFill>
                  <a:schemeClr val="accent1"/>
                </a:solidFill>
              </a:rPr>
              <a:t>. In the next tutorial, we will execute multiple API requests using </a:t>
            </a:r>
            <a:r>
              <a:rPr lang="en-US" b="1" dirty="0">
                <a:solidFill>
                  <a:schemeClr val="accent1"/>
                </a:solidFill>
              </a:rPr>
              <a:t>Java </a:t>
            </a:r>
            <a:r>
              <a:rPr lang="en-US" b="1" dirty="0" err="1">
                <a:solidFill>
                  <a:schemeClr val="accent1"/>
                </a:solidFill>
              </a:rPr>
              <a:t>HttpClient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1"/>
                </a:solidFill>
              </a:rPr>
              <a:t>REST Assured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1"/>
                </a:solidFill>
              </a:rPr>
              <a:t>Playwright</a:t>
            </a:r>
            <a:r>
              <a:rPr lang="en-US" dirty="0">
                <a:solidFill>
                  <a:schemeClr val="accent1"/>
                </a:solidFill>
              </a:rPr>
              <a:t>, and </a:t>
            </a:r>
            <a:r>
              <a:rPr lang="en-US" b="1" dirty="0" err="1">
                <a:solidFill>
                  <a:schemeClr val="accent1"/>
                </a:solidFill>
              </a:rPr>
              <a:t>Unirest</a:t>
            </a:r>
            <a:r>
              <a:rPr lang="en-US" dirty="0">
                <a:solidFill>
                  <a:schemeClr val="accent1"/>
                </a:solidFill>
              </a:rPr>
              <a:t>. Thank you for watching, and I’ll see you in the next tutorial.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8" name="22">
            <a:hlinkClick r:id="" action="ppaction://media"/>
            <a:extLst>
              <a:ext uri="{FF2B5EF4-FFF2-40B4-BE49-F238E27FC236}">
                <a16:creationId xmlns:a16="http://schemas.microsoft.com/office/drawing/2014/main" id="{03ADDE7F-CCB8-9262-8E82-5B4CFC0D25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19460" y="60519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521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8000">
        <p159:morph option="byObject"/>
      </p:transition>
    </mc:Choice>
    <mc:Fallback>
      <p:transition spd="slow" advTm="1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4" grpId="0" animBg="1"/>
    </p:bldLst>
  </p:timing>
  <p:extLst>
    <p:ext uri="{E180D4A7-C9FB-4DFB-919C-405C955672EB}">
      <p14:showEvtLst xmlns:p14="http://schemas.microsoft.com/office/powerpoint/2010/main">
        <p14:playEvt time="1" objId="17"/>
        <p14:stopEvt time="12580" objId="17"/>
      </p14:showEvt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2876</TotalTime>
  <Words>880</Words>
  <Application>Microsoft Office PowerPoint</Application>
  <PresentationFormat>Widescreen</PresentationFormat>
  <Paragraphs>34</Paragraphs>
  <Slides>22</Slides>
  <Notes>2</Notes>
  <HiddenSlides>0</HiddenSlides>
  <MMClips>22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Gofman</dc:creator>
  <cp:lastModifiedBy>David Gofman</cp:lastModifiedBy>
  <cp:revision>36</cp:revision>
  <dcterms:created xsi:type="dcterms:W3CDTF">2026-05-22T19:03:47Z</dcterms:created>
  <dcterms:modified xsi:type="dcterms:W3CDTF">2026-05-24T19:03:40Z</dcterms:modified>
</cp:coreProperties>
</file>