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modernComment_100_956271E7.xml" ContentType="application/vnd.ms-powerpoint.comment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862174D-69C6-9ED2-6197-07020E891F12}" name="David Gofman" initials="DG" userId="5259373e58768a70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00FF"/>
    <a:srgbClr val="5F2EDA"/>
    <a:srgbClr val="2A00FF"/>
    <a:srgbClr val="363636"/>
    <a:srgbClr val="6B6B6B"/>
    <a:srgbClr val="070504"/>
    <a:srgbClr val="950055"/>
    <a:srgbClr val="0A53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18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45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024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omments/modernComment_100_956271E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D5B1845-E716-437D-BBF7-36E3E0428782}" authorId="{E862174D-69C6-9ED2-6197-07020E891F12}" created="2026-05-23T01:39:06.878">
    <pc:sldMkLst xmlns:pc="http://schemas.microsoft.com/office/powerpoint/2013/main/command">
      <pc:docMk/>
      <pc:sldMk cId="2506256871" sldId="256"/>
    </pc:sldMkLst>
    <p188:pos x="11668125" y="6026150"/>
    <p188:replyLst>
      <p188:reply id="{11257296-3FF7-4C28-BD1D-9EFEC095913C}" authorId="{E862174D-69C6-9ED2-6197-07020E891F12}" created="2026-05-23T01:43:47.735">
        <p188:txBody>
          <a:bodyPr/>
          <a:lstStyle/>
          <a:p>
            <a:r>
              <a:rPr lang="en-US"/>
              <a:t>Language: English (United States)
Voice: Derek Multilingual
Emotion: Empathetic
Vocal pitch: Default</a:t>
            </a:r>
          </a:p>
        </p188:txBody>
      </p188:reply>
    </p188:replyLst>
    <p188:txBody>
      <a:bodyPr/>
      <a:lstStyle/>
      <a:p>
        <a:r>
          <a:rPr lang="en-US"/>
          <a:t>https://app.clipchamp.com/consumer/editor/?feature=voiceover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05-23T01:43:27.356" authorId="{E862174D-69C6-9ED2-6197-07020E891F12}"/>
          </p223:rxn>
        </p223:reactions>
      </p:ext>
    </p188:extLst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0BD764-37BC-4840-BB41-74D4F927F79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97B6D0-CC60-4178-91F2-D40E75684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047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97B6D0-CC60-4178-91F2-D40E75684CF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6251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97B6D0-CC60-4178-91F2-D40E75684CF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0323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97B6D0-CC60-4178-91F2-D40E75684CF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503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97B6D0-CC60-4178-91F2-D40E75684CF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8573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97B6D0-CC60-4178-91F2-D40E75684CF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1098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97B6D0-CC60-4178-91F2-D40E75684CF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297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97B6D0-CC60-4178-91F2-D40E75684CF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8193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97B6D0-CC60-4178-91F2-D40E75684CF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5461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97B6D0-CC60-4178-91F2-D40E75684CF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7932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97B6D0-CC60-4178-91F2-D40E75684CF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9453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Logo">
            <a:extLst>
              <a:ext uri="{FF2B5EF4-FFF2-40B4-BE49-F238E27FC236}">
                <a16:creationId xmlns:a16="http://schemas.microsoft.com/office/drawing/2014/main" id="{A561A6FC-F296-C2CD-3FA6-B17CA90424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0461" y="38099"/>
            <a:ext cx="822960" cy="966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453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">
            <a:extLst>
              <a:ext uri="{FF2B5EF4-FFF2-40B4-BE49-F238E27FC236}">
                <a16:creationId xmlns:a16="http://schemas.microsoft.com/office/drawing/2014/main" id="{5B589D1F-61D3-4F24-B9B6-6B67D1CA8F7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0461" y="38099"/>
            <a:ext cx="822960" cy="966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415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39316-D952-8024-D6FF-C5E6BAC63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803D3A-8E8B-D118-B1F7-BDED89C2ED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045045-5F31-80CE-3541-50F4996B8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A11A1-CC71-4413-B634-BC7EFB14F7B3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C2E8A-C004-C456-AC13-47C728E18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DD5AEB-B128-88B1-D202-A3EB85A8D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C62C9-AB25-418E-8160-A18487BEC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416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1A3B0-A11E-E4F9-2858-5CA1C5130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5E6C5F-B87E-1434-4ACD-976FB313D1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701D77-E50A-7517-0C77-FC9769C1B9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A1020F-566E-1CDA-5C08-4E4D6B3A4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A11A1-CC71-4413-B634-BC7EFB14F7B3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5D9E70-19B0-78EC-8FB4-B133D45A5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173A80-5180-A80B-240B-49DF854B1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C62C9-AB25-418E-8160-A18487BEC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965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59C55-B013-C811-2E7F-2499AE8EA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B2485B-357F-008A-01CF-6848CF3ED5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1C6B05-8C17-0C30-9E59-53AEFB65EE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AE6024-19D3-49C9-FA47-F6FB67C33F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A19170-892F-B124-7F00-FB7534B1C9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5128CC-F5BD-48EA-0468-C70E97249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A11A1-CC71-4413-B634-BC7EFB14F7B3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DAFB47-B3DB-581D-61CC-972C47DAB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268122-60E3-9485-9DCB-91F752CB6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C62C9-AB25-418E-8160-A18487BEC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202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A1912-974F-9CAE-3821-E2C62D857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23EBC5-F207-B92E-22FB-6E82BA1CF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A11A1-CC71-4413-B634-BC7EFB14F7B3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660B9E-F26F-EB1A-99AB-9EAA5DE7C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8D8A50-7366-5030-CBEF-038429CEA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C62C9-AB25-418E-8160-A18487BEC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552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8EEBE9-F489-6D57-5B58-DC608C03B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A11A1-CC71-4413-B634-BC7EFB14F7B3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EED2E6-4626-8853-12CB-FA8096852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E349C4-4174-8D91-48B8-C20EF3291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C62C9-AB25-418E-8160-A18487BEC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769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A6E33-3702-CF5B-BF8D-2FBF81521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CFFCE-6DE2-4E9F-153F-79C85F4C7C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57CD24-B6BB-478B-A24A-BACB976847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95D694-DD22-6353-F200-AEC674BAC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A11A1-CC71-4413-B634-BC7EFB14F7B3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3FC588-A532-BE13-EF9D-5C27CB21E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EEEFA5-516D-549B-CC1A-FB5215CE5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C62C9-AB25-418E-8160-A18487BEC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251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4DF34-EBDC-4133-CA71-8EDB81571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EC745C-BE8B-5E35-B8AA-839781E947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57BCA5-0AE2-B306-869A-FFB0FCB993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3E9148-6F79-FE03-10FE-6994F613A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A11A1-CC71-4413-B634-BC7EFB14F7B3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0BD249-7719-63CE-7C1F-719F50DD2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ACD3A3-B68D-5872-86B7-66DAE1A40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C62C9-AB25-418E-8160-A18487BEC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318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B5852-9EF4-CF12-7E9C-D7743F420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47885A-53E2-2EC8-F478-C85A3ACD09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3594E2-A04B-E3F1-17CA-897175794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A11A1-CC71-4413-B634-BC7EFB14F7B3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AA53B2-40D4-7FCC-A27B-FD8E7FEA4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58A954-8032-9FC0-FF61-894DD9F1D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C62C9-AB25-418E-8160-A18487BEC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023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B32CC0-A58F-4F32-E4F7-C9E3095F3C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CD1F56-103E-CD0F-2E02-3E25F7CEAC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472EF4-EBE3-F2A9-1B96-3442F543B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A11A1-CC71-4413-B634-BC7EFB14F7B3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43C04C-FD93-6CD7-61C0-958DC6805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C997E2-50BF-1618-682E-2255B4BCA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C62C9-AB25-418E-8160-A18487BEC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249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5DDD45-36A5-8419-C192-284685306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AD22EE-7F8D-EAD3-1E79-BAF66CF6B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CDF98-D28D-17AC-CE27-584D1E9EA4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3A11A1-CC71-4413-B634-BC7EFB14F7B3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AFE6CA-3B4F-64BE-8E91-6E2A969B6F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36112-7988-E5F9-59AE-83A1ED4CD1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6C62C9-AB25-418E-8160-A18487BEC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77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microsoft.com/office/2018/10/relationships/comments" Target="../comments/modernComment_100_956271E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7.png"/><Relationship Id="rId12" Type="http://schemas.openxmlformats.org/officeDocument/2006/relationships/image" Target="../media/image3.png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central.sonatype.com/artifact/ch.qos.logback/logback-classic" TargetMode="External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1.svg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notesSlide" Target="../notesSlides/notesSlide1.xml"/><Relationship Id="rId9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6.png"/><Relationship Id="rId12" Type="http://schemas.openxmlformats.org/officeDocument/2006/relationships/image" Target="../media/image3.png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image" Target="../media/image15.png"/><Relationship Id="rId11" Type="http://schemas.openxmlformats.org/officeDocument/2006/relationships/image" Target="../media/image11.sv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notesSlide" Target="../notesSlides/notesSlide2.xml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22.png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6" Type="http://schemas.openxmlformats.org/officeDocument/2006/relationships/image" Target="../media/image21.png"/><Relationship Id="rId11" Type="http://schemas.openxmlformats.org/officeDocument/2006/relationships/image" Target="../media/image3.png"/><Relationship Id="rId5" Type="http://schemas.openxmlformats.org/officeDocument/2006/relationships/image" Target="../media/image20.png"/><Relationship Id="rId10" Type="http://schemas.openxmlformats.org/officeDocument/2006/relationships/image" Target="../media/image11.svg"/><Relationship Id="rId4" Type="http://schemas.openxmlformats.org/officeDocument/2006/relationships/notesSlide" Target="../notesSlides/notesSlide3.xml"/><Relationship Id="rId9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6" Type="http://schemas.openxmlformats.org/officeDocument/2006/relationships/image" Target="../media/image3.png"/><Relationship Id="rId5" Type="http://schemas.openxmlformats.org/officeDocument/2006/relationships/image" Target="../media/image25.png"/><Relationship Id="rId4" Type="http://schemas.openxmlformats.org/officeDocument/2006/relationships/notesSlide" Target="../notesSlides/notesSlide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1.svg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6" Type="http://schemas.openxmlformats.org/officeDocument/2006/relationships/image" Target="../media/image25.png"/><Relationship Id="rId5" Type="http://schemas.openxmlformats.org/officeDocument/2006/relationships/image" Target="../media/image26.png"/><Relationship Id="rId4" Type="http://schemas.openxmlformats.org/officeDocument/2006/relationships/notesSlide" Target="../notesSlides/notesSlide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29.png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notesSlide" Target="../notesSlides/notesSlide6.xml"/><Relationship Id="rId9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6" Type="http://schemas.openxmlformats.org/officeDocument/2006/relationships/image" Target="../media/image3.png"/><Relationship Id="rId5" Type="http://schemas.openxmlformats.org/officeDocument/2006/relationships/image" Target="../media/image28.png"/><Relationship Id="rId4" Type="http://schemas.openxmlformats.org/officeDocument/2006/relationships/notesSlide" Target="../notesSlides/notesSlid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6" Type="http://schemas.openxmlformats.org/officeDocument/2006/relationships/image" Target="../media/image3.png"/><Relationship Id="rId5" Type="http://schemas.openxmlformats.org/officeDocument/2006/relationships/image" Target="../media/image30.png"/><Relationship Id="rId4" Type="http://schemas.openxmlformats.org/officeDocument/2006/relationships/notesSlide" Target="../notesSlides/notesSlid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3.png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notesSlide" Target="../notesSlides/notesSlide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6" Type="http://schemas.openxmlformats.org/officeDocument/2006/relationships/image" Target="../media/image3.png"/><Relationship Id="rId5" Type="http://schemas.openxmlformats.org/officeDocument/2006/relationships/image" Target="../media/image33.png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creenshot1">
            <a:extLst>
              <a:ext uri="{FF2B5EF4-FFF2-40B4-BE49-F238E27FC236}">
                <a16:creationId xmlns:a16="http://schemas.microsoft.com/office/drawing/2014/main" id="{AF1D3632-25FA-28EC-4DE0-F1546F5751D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490" y="0"/>
            <a:ext cx="9723020" cy="6858000"/>
          </a:xfrm>
          <a:prstGeom prst="rect">
            <a:avLst/>
          </a:prstGeom>
        </p:spPr>
      </p:pic>
      <p:sp>
        <p:nvSpPr>
          <p:cNvPr id="2" name="Caption">
            <a:extLst>
              <a:ext uri="{FF2B5EF4-FFF2-40B4-BE49-F238E27FC236}">
                <a16:creationId xmlns:a16="http://schemas.microsoft.com/office/drawing/2014/main" id="{19548457-A1F8-D46E-FED9-6907FC17A27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19375" y="5431149"/>
            <a:ext cx="7734300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In the previous tutorial, we configured the </a:t>
            </a:r>
            <a:r>
              <a:rPr lang="en-US" b="1" dirty="0">
                <a:solidFill>
                  <a:schemeClr val="accent1"/>
                </a:solidFill>
              </a:rPr>
              <a:t>Java Maven </a:t>
            </a:r>
            <a:r>
              <a:rPr lang="en-US" dirty="0">
                <a:solidFill>
                  <a:schemeClr val="accent1"/>
                </a:solidFill>
              </a:rPr>
              <a:t>project with </a:t>
            </a:r>
            <a:r>
              <a:rPr lang="en-US" dirty="0" err="1">
                <a:solidFill>
                  <a:schemeClr val="accent1"/>
                </a:solidFill>
              </a:rPr>
              <a:t>jpostman</a:t>
            </a:r>
            <a:r>
              <a:rPr lang="en-US" dirty="0">
                <a:solidFill>
                  <a:schemeClr val="accent1"/>
                </a:solidFill>
              </a:rPr>
              <a:t>-core and loaded the exported Postman </a:t>
            </a:r>
            <a:r>
              <a:rPr lang="en-US" b="1" dirty="0">
                <a:solidFill>
                  <a:schemeClr val="accent1"/>
                </a:solidFill>
              </a:rPr>
              <a:t>collection</a:t>
            </a:r>
            <a:r>
              <a:rPr lang="en-US" dirty="0">
                <a:solidFill>
                  <a:schemeClr val="accent1"/>
                </a:solidFill>
              </a:rPr>
              <a:t> and </a:t>
            </a:r>
            <a:r>
              <a:rPr lang="en-US" b="1" dirty="0">
                <a:solidFill>
                  <a:schemeClr val="accent1"/>
                </a:solidFill>
              </a:rPr>
              <a:t>environment</a:t>
            </a:r>
            <a:r>
              <a:rPr lang="en-US" dirty="0">
                <a:solidFill>
                  <a:schemeClr val="accent1"/>
                </a:solidFill>
              </a:rPr>
              <a:t> files. The link to that video is available in the description. In this tutorial, we will use those settings to execute REST API requests from Java.</a:t>
            </a:r>
          </a:p>
        </p:txBody>
      </p:sp>
      <p:pic>
        <p:nvPicPr>
          <p:cNvPr id="5" name="1">
            <a:hlinkClick r:id="" action="ppaction://media"/>
            <a:extLst>
              <a:ext uri="{FF2B5EF4-FFF2-40B4-BE49-F238E27FC236}">
                <a16:creationId xmlns:a16="http://schemas.microsoft.com/office/drawing/2014/main" id="{F22EB4F8-5251-50C8-5ECA-42BBCD90D00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433760" y="6021878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256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Click="0" advTm="17622">
        <p:cut/>
      </p:transition>
    </mc:Choice>
    <mc:Fallback xmlns="">
      <p:transition advClick="0" advTm="17622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2" grpId="0" animBg="1"/>
    </p:bldLst>
  </p:timing>
  <p:extLst>
    <p:ext uri="{E180D4A7-C9FB-4DFB-919C-405C955672EB}">
      <p14:showEvtLst xmlns:p14="http://schemas.microsoft.com/office/powerpoint/2010/main">
        <p14:playEvt time="1" objId="5"/>
        <p14:stopEvt time="16782" objId="5"/>
      </p14:showEvtLst>
    </p:ext>
    <p:ext uri="{6950BFC3-D8DA-4A85-94F7-54DA5524770B}">
      <p188:commentRel xmlns:p188="http://schemas.microsoft.com/office/powerpoint/2018/8/main" r:id="rId4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Screenshot7">
            <a:extLst>
              <a:ext uri="{FF2B5EF4-FFF2-40B4-BE49-F238E27FC236}">
                <a16:creationId xmlns:a16="http://schemas.microsoft.com/office/drawing/2014/main" id="{D537693B-882D-3751-1B86-AC7BF83A4CF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90" y="0"/>
            <a:ext cx="9723020" cy="6858000"/>
          </a:xfrm>
          <a:prstGeom prst="rect">
            <a:avLst/>
          </a:prstGeom>
        </p:spPr>
      </p:pic>
      <p:pic>
        <p:nvPicPr>
          <p:cNvPr id="33" name="Screenshot6">
            <a:extLst>
              <a:ext uri="{FF2B5EF4-FFF2-40B4-BE49-F238E27FC236}">
                <a16:creationId xmlns:a16="http://schemas.microsoft.com/office/drawing/2014/main" id="{688FB1A5-2509-202A-F3CB-EC0B8F78850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490" y="0"/>
            <a:ext cx="9723020" cy="6858000"/>
          </a:xfrm>
          <a:prstGeom prst="rect">
            <a:avLst/>
          </a:prstGeom>
        </p:spPr>
      </p:pic>
      <p:sp>
        <p:nvSpPr>
          <p:cNvPr id="38" name="Caption3">
            <a:extLst>
              <a:ext uri="{FF2B5EF4-FFF2-40B4-BE49-F238E27FC236}">
                <a16:creationId xmlns:a16="http://schemas.microsoft.com/office/drawing/2014/main" id="{1C6AD9EC-F351-7CA2-1E5E-63679493D6D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971800" y="4849547"/>
            <a:ext cx="7995041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As a best practice, use the </a:t>
            </a:r>
            <a:r>
              <a:rPr lang="en-US" b="1" dirty="0">
                <a:solidFill>
                  <a:schemeClr val="accent1"/>
                </a:solidFill>
              </a:rPr>
              <a:t>test</a:t>
            </a:r>
            <a:r>
              <a:rPr lang="en-US" dirty="0">
                <a:solidFill>
                  <a:schemeClr val="accent1"/>
                </a:solidFill>
              </a:rPr>
              <a:t> scope for testing-related libraries.</a:t>
            </a:r>
          </a:p>
          <a:p>
            <a:endParaRPr lang="en-US" dirty="0">
              <a:solidFill>
                <a:schemeClr val="accent1"/>
              </a:solidFill>
            </a:endParaRPr>
          </a:p>
          <a:p>
            <a:endParaRPr lang="en-US" dirty="0">
              <a:solidFill>
                <a:schemeClr val="accent1"/>
              </a:solidFill>
            </a:endParaRPr>
          </a:p>
        </p:txBody>
      </p:sp>
      <p:pic>
        <p:nvPicPr>
          <p:cNvPr id="31" name="Screenshot5">
            <a:extLst>
              <a:ext uri="{FF2B5EF4-FFF2-40B4-BE49-F238E27FC236}">
                <a16:creationId xmlns:a16="http://schemas.microsoft.com/office/drawing/2014/main" id="{6389DD0A-1BF0-2B34-A8AC-3D1EC9404D0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4490" y="0"/>
            <a:ext cx="9723020" cy="6858000"/>
          </a:xfrm>
          <a:prstGeom prst="rect">
            <a:avLst/>
          </a:prstGeom>
        </p:spPr>
      </p:pic>
      <p:pic>
        <p:nvPicPr>
          <p:cNvPr id="29" name="Screenshot4">
            <a:extLst>
              <a:ext uri="{FF2B5EF4-FFF2-40B4-BE49-F238E27FC236}">
                <a16:creationId xmlns:a16="http://schemas.microsoft.com/office/drawing/2014/main" id="{B3895D06-6A9A-45CC-B268-7FF0D384BB2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4490" y="0"/>
            <a:ext cx="9723020" cy="6858000"/>
          </a:xfrm>
          <a:prstGeom prst="rect">
            <a:avLst/>
          </a:prstGeom>
        </p:spPr>
      </p:pic>
      <p:sp>
        <p:nvSpPr>
          <p:cNvPr id="42" name="1.0.1">
            <a:extLst>
              <a:ext uri="{FF2B5EF4-FFF2-40B4-BE49-F238E27FC236}">
                <a16:creationId xmlns:a16="http://schemas.microsoft.com/office/drawing/2014/main" id="{34314A4F-C1D2-6F01-5544-CC767810FD2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426145" y="1019287"/>
            <a:ext cx="43473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1.0.1</a:t>
            </a:r>
          </a:p>
        </p:txBody>
      </p:sp>
      <p:sp>
        <p:nvSpPr>
          <p:cNvPr id="41" name="jpostman-restassured">
            <a:extLst>
              <a:ext uri="{FF2B5EF4-FFF2-40B4-BE49-F238E27FC236}">
                <a16:creationId xmlns:a16="http://schemas.microsoft.com/office/drawing/2014/main" id="{5B2E03D6-CA6C-ECE5-A438-31A25EBAB6C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430267" y="813340"/>
            <a:ext cx="128913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 err="1"/>
              <a:t>jpostman-restassured</a:t>
            </a:r>
            <a:endParaRPr lang="en-US" sz="900" dirty="0"/>
          </a:p>
        </p:txBody>
      </p:sp>
      <p:sp>
        <p:nvSpPr>
          <p:cNvPr id="43" name="io.github.jpostman">
            <a:extLst>
              <a:ext uri="{FF2B5EF4-FFF2-40B4-BE49-F238E27FC236}">
                <a16:creationId xmlns:a16="http://schemas.microsoft.com/office/drawing/2014/main" id="{69FB56D3-E16B-23D1-D697-D72AE1D7E9B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434383" y="623864"/>
            <a:ext cx="11272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 err="1"/>
              <a:t>io.github.jpostman</a:t>
            </a:r>
            <a:endParaRPr lang="en-US" sz="900" dirty="0"/>
          </a:p>
        </p:txBody>
      </p:sp>
      <p:sp>
        <p:nvSpPr>
          <p:cNvPr id="36" name="Caption2">
            <a:extLst>
              <a:ext uri="{FF2B5EF4-FFF2-40B4-BE49-F238E27FC236}">
                <a16:creationId xmlns:a16="http://schemas.microsoft.com/office/drawing/2014/main" id="{1D1F83DD-60CA-377B-1B59-55CA4E6152F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028950" y="4840022"/>
            <a:ext cx="7995041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In the Add Dependency window, enter the </a:t>
            </a:r>
            <a:r>
              <a:rPr lang="en-US" b="1" dirty="0" err="1">
                <a:solidFill>
                  <a:schemeClr val="accent1"/>
                </a:solidFill>
              </a:rPr>
              <a:t>JPostman</a:t>
            </a:r>
            <a:r>
              <a:rPr lang="en-US" b="1" dirty="0">
                <a:solidFill>
                  <a:schemeClr val="accent1"/>
                </a:solidFill>
              </a:rPr>
              <a:t> Assured </a:t>
            </a:r>
            <a:r>
              <a:rPr lang="en-US" dirty="0">
                <a:solidFill>
                  <a:schemeClr val="accent1"/>
                </a:solidFill>
              </a:rPr>
              <a:t>REST API executor dependency. Optionally, set the scope to </a:t>
            </a:r>
            <a:r>
              <a:rPr lang="en-US" b="1" dirty="0">
                <a:solidFill>
                  <a:schemeClr val="accent1"/>
                </a:solidFill>
              </a:rPr>
              <a:t>test</a:t>
            </a:r>
            <a:r>
              <a:rPr lang="en-US" dirty="0">
                <a:solidFill>
                  <a:schemeClr val="accent1"/>
                </a:solidFill>
              </a:rPr>
              <a:t>, then click </a:t>
            </a:r>
            <a:r>
              <a:rPr lang="en-US" b="1" dirty="0">
                <a:solidFill>
                  <a:schemeClr val="accent1"/>
                </a:solidFill>
              </a:rPr>
              <a:t>OK</a:t>
            </a:r>
            <a:r>
              <a:rPr lang="en-US" dirty="0">
                <a:solidFill>
                  <a:schemeClr val="accent1"/>
                </a:solidFill>
              </a:rPr>
              <a:t>. </a:t>
            </a:r>
          </a:p>
          <a:p>
            <a:endParaRPr lang="en-US" dirty="0">
              <a:solidFill>
                <a:schemeClr val="accent1"/>
              </a:solidFill>
            </a:endParaRPr>
          </a:p>
        </p:txBody>
      </p:sp>
      <p:pic>
        <p:nvPicPr>
          <p:cNvPr id="27" name="Screenshot3">
            <a:extLst>
              <a:ext uri="{FF2B5EF4-FFF2-40B4-BE49-F238E27FC236}">
                <a16:creationId xmlns:a16="http://schemas.microsoft.com/office/drawing/2014/main" id="{1AE82BF8-BF4C-7D48-0F65-8F21A67ABAB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44209" y="0"/>
            <a:ext cx="9703581" cy="6858000"/>
          </a:xfrm>
          <a:prstGeom prst="rect">
            <a:avLst/>
          </a:prstGeom>
        </p:spPr>
      </p:pic>
      <p:pic>
        <p:nvPicPr>
          <p:cNvPr id="25" name="Screenshot2">
            <a:extLst>
              <a:ext uri="{FF2B5EF4-FFF2-40B4-BE49-F238E27FC236}">
                <a16:creationId xmlns:a16="http://schemas.microsoft.com/office/drawing/2014/main" id="{DA3EE567-0B60-AF30-F0CD-008E5A86630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34490" y="0"/>
            <a:ext cx="9723020" cy="6858000"/>
          </a:xfrm>
          <a:prstGeom prst="rect">
            <a:avLst/>
          </a:prstGeom>
        </p:spPr>
      </p:pic>
      <p:pic>
        <p:nvPicPr>
          <p:cNvPr id="13" name="Screenshot1">
            <a:extLst>
              <a:ext uri="{FF2B5EF4-FFF2-40B4-BE49-F238E27FC236}">
                <a16:creationId xmlns:a16="http://schemas.microsoft.com/office/drawing/2014/main" id="{3960C632-9305-610E-9992-8B709DAA943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34490" y="0"/>
            <a:ext cx="9723020" cy="6858000"/>
          </a:xfrm>
          <a:prstGeom prst="rect">
            <a:avLst/>
          </a:prstGeom>
        </p:spPr>
      </p:pic>
      <p:sp>
        <p:nvSpPr>
          <p:cNvPr id="2" name="Caption1">
            <a:extLst>
              <a:ext uri="{FF2B5EF4-FFF2-40B4-BE49-F238E27FC236}">
                <a16:creationId xmlns:a16="http://schemas.microsoft.com/office/drawing/2014/main" id="{19548457-A1F8-D46E-FED9-6907FC17A27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952750" y="4811447"/>
            <a:ext cx="7995041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First, let’s review the current </a:t>
            </a:r>
            <a:r>
              <a:rPr lang="en-US" b="1" dirty="0">
                <a:solidFill>
                  <a:schemeClr val="accent1"/>
                </a:solidFill>
              </a:rPr>
              <a:t>pom.xml </a:t>
            </a:r>
            <a:r>
              <a:rPr lang="en-US" dirty="0">
                <a:solidFill>
                  <a:schemeClr val="accent1"/>
                </a:solidFill>
              </a:rPr>
              <a:t>file by double-clicking it in the Eclipse project tree. Then right-click the file, go to </a:t>
            </a:r>
            <a:r>
              <a:rPr lang="en-US" b="1" dirty="0">
                <a:solidFill>
                  <a:schemeClr val="accent1"/>
                </a:solidFill>
              </a:rPr>
              <a:t>Maven</a:t>
            </a:r>
            <a:r>
              <a:rPr lang="en-US" dirty="0">
                <a:solidFill>
                  <a:schemeClr val="accent1"/>
                </a:solidFill>
              </a:rPr>
              <a:t>, and select </a:t>
            </a:r>
            <a:r>
              <a:rPr lang="en-US" b="1" dirty="0">
                <a:solidFill>
                  <a:schemeClr val="accent1"/>
                </a:solidFill>
              </a:rPr>
              <a:t>Add Dependency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  <a:p>
            <a:endParaRPr lang="en-US" dirty="0">
              <a:solidFill>
                <a:schemeClr val="accent1"/>
              </a:solidFill>
            </a:endParaRPr>
          </a:p>
        </p:txBody>
      </p:sp>
      <p:pic>
        <p:nvPicPr>
          <p:cNvPr id="7" name="Arrow Move" descr="Cursor with solid fill">
            <a:extLst>
              <a:ext uri="{FF2B5EF4-FFF2-40B4-BE49-F238E27FC236}">
                <a16:creationId xmlns:a16="http://schemas.microsoft.com/office/drawing/2014/main" id="{21A67CF5-D3BF-E846-C085-3B727CF2C85A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816918">
            <a:off x="1917192" y="2886458"/>
            <a:ext cx="333375" cy="333375"/>
          </a:xfrm>
          <a:prstGeom prst="rect">
            <a:avLst/>
          </a:prstGeom>
        </p:spPr>
      </p:pic>
      <p:pic>
        <p:nvPicPr>
          <p:cNvPr id="39" name="2">
            <a:hlinkClick r:id="" action="ppaction://media"/>
            <a:extLst>
              <a:ext uri="{FF2B5EF4-FFF2-40B4-BE49-F238E27FC236}">
                <a16:creationId xmlns:a16="http://schemas.microsoft.com/office/drawing/2014/main" id="{E46F5DC0-7200-9423-DD77-A7080A35066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11296650" y="60579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5473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26745">
        <p159:morph option="byObject"/>
      </p:transition>
    </mc:Choice>
    <mc:Fallback xmlns="">
      <p:transition spd="slow" advClick="0" advTm="26745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6" presetClass="emph" presetSubtype="0" repeatCount="2000" autoRev="1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animScale>
                                      <p:cBhvr>
                                        <p:cTn id="15" dur="150" fill="hold"/>
                                        <p:tgtEl>
                                          <p:spTgt spid="7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4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6" presetClass="emph" presetSubtype="0" autoRev="1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Scale>
                                      <p:cBhvr>
                                        <p:cTn id="20" dur="250" fill="hold"/>
                                        <p:tgtEl>
                                          <p:spTgt spid="7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nodeType="withEffect">
                                  <p:stCondLst>
                                    <p:cond delay="6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42" presetClass="path" presetSubtype="0" accel="50000" decel="50000" fill="hold" nodeType="withEffect">
                                  <p:stCondLst>
                                    <p:cond delay="7500"/>
                                  </p:stCondLst>
                                  <p:childTnLst>
                                    <p:animMotion origin="layout" path="M -3.54167E-6 1.11111E-6 L 0.13998 0.42847 " pathEditMode="relative" rAng="0" ptsTypes="AA">
                                      <p:cBhvr>
                                        <p:cTn id="25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92" y="21412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42" presetClass="path" presetSubtype="0" accel="50000" decel="50000" fill="hold" nodeType="withEffect">
                                  <p:stCondLst>
                                    <p:cond delay="9000"/>
                                  </p:stCondLst>
                                  <p:childTnLst>
                                    <p:animMotion origin="layout" path="M 0.13997 0.42847 L 0.28138 0.42292 " pathEditMode="relative" rAng="0" ptsTypes="AA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875" y="-278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6" presetClass="emph" presetSubtype="0" autoRev="1" fill="hold" nodeType="withEffect">
                                  <p:stCondLst>
                                    <p:cond delay="10000"/>
                                  </p:stCondLst>
                                  <p:childTnLst>
                                    <p:animScale>
                                      <p:cBhvr>
                                        <p:cTn id="29" dur="250" fill="hold"/>
                                        <p:tgtEl>
                                          <p:spTgt spid="7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nodeType="withEffect">
                                  <p:stCondLst>
                                    <p:cond delay="10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grpId="1" nodeType="withEffect">
                                  <p:stCondLst>
                                    <p:cond delay="105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10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1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1" nodeType="withEffect">
                                  <p:stCondLst>
                                    <p:cond delay="300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1" nodeType="withEffect">
                                  <p:stCondLst>
                                    <p:cond delay="500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42" presetClass="path" presetSubtype="0" accel="50000" decel="5000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Motion origin="layout" path="M 0.28138 0.42292 L 0.50612 -0.26296 " pathEditMode="relative" rAng="0" ptsTypes="AA">
                                      <p:cBhvr>
                                        <p:cTn id="4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250" y="-34421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6" presetClass="emph" presetSubtype="0" autoRev="1" fill="hold" nodeType="withEffect">
                                  <p:stCondLst>
                                    <p:cond delay="7000"/>
                                  </p:stCondLst>
                                  <p:childTnLst>
                                    <p:animScale>
                                      <p:cBhvr>
                                        <p:cTn id="48" dur="250" fill="hold"/>
                                        <p:tgtEl>
                                          <p:spTgt spid="7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nodeType="withEffect">
                                  <p:stCondLst>
                                    <p:cond delay="7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42" presetClass="path" presetSubtype="0" accel="50000" decel="50000" fill="hold" nodeType="withEffect">
                                  <p:stCondLst>
                                    <p:cond delay="7500"/>
                                  </p:stCondLst>
                                  <p:childTnLst>
                                    <p:animMotion origin="layout" path="M 0.50612 -0.26296 L 0.50664 -0.19306 " pathEditMode="relative" rAng="0" ptsTypes="AA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3495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42" presetClass="path" presetSubtype="0" accel="50000" decel="50000" fill="hold" nodeType="withEffect">
                                  <p:stCondLst>
                                    <p:cond delay="9000"/>
                                  </p:stCondLst>
                                  <p:childTnLst>
                                    <p:animMotion origin="layout" path="M 0.50664 -0.19306 L 0.44206 0.16042 " pathEditMode="relative" rAng="0" ptsTypes="AA">
                                      <p:cBhvr>
                                        <p:cTn id="5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29" y="17546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6" presetClass="emph" presetSubtype="0" autoRev="1" fill="hold" nodeType="withEffect">
                                  <p:stCondLst>
                                    <p:cond delay="10000"/>
                                  </p:stCondLst>
                                  <p:childTnLst>
                                    <p:animScale>
                                      <p:cBhvr>
                                        <p:cTn id="57" dur="250" fill="hold"/>
                                        <p:tgtEl>
                                          <p:spTgt spid="7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nodeType="withEffect">
                                  <p:stCondLst>
                                    <p:cond delay="10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grpId="1" nodeType="withEffect">
                                  <p:stCondLst>
                                    <p:cond delay="105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200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7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9"/>
                </p:tgtEl>
              </p:cMediaNode>
            </p:audio>
          </p:childTnLst>
        </p:cTn>
      </p:par>
    </p:tnLst>
    <p:bldLst>
      <p:bldP spid="38" grpId="0" animBg="1"/>
      <p:bldP spid="42" grpId="1"/>
      <p:bldP spid="41" grpId="1"/>
      <p:bldP spid="43" grpId="0"/>
      <p:bldP spid="36" grpId="0" animBg="1"/>
      <p:bldP spid="36" grpId="1" animBg="1"/>
      <p:bldP spid="2" grpId="0" animBg="1"/>
      <p:bldP spid="2" grpId="1" animBg="1"/>
    </p:bldLst>
  </p:timing>
  <p:extLst>
    <p:ext uri="{E180D4A7-C9FB-4DFB-919C-405C955672EB}">
      <p14:showEvtLst xmlns:p14="http://schemas.microsoft.com/office/powerpoint/2010/main">
        <p14:playEvt time="2" objId="39"/>
        <p14:stopEvt time="26717" objId="39"/>
      </p14:showEvtLst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Screenshot2">
            <a:extLst>
              <a:ext uri="{FF2B5EF4-FFF2-40B4-BE49-F238E27FC236}">
                <a16:creationId xmlns:a16="http://schemas.microsoft.com/office/drawing/2014/main" id="{D64CEEC1-1A1F-395F-2D5D-F33EABE682A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490" y="0"/>
            <a:ext cx="9723020" cy="6858000"/>
          </a:xfrm>
          <a:prstGeom prst="rect">
            <a:avLst/>
          </a:prstGeom>
        </p:spPr>
      </p:pic>
      <p:pic>
        <p:nvPicPr>
          <p:cNvPr id="4" name="Screenshot1">
            <a:extLst>
              <a:ext uri="{FF2B5EF4-FFF2-40B4-BE49-F238E27FC236}">
                <a16:creationId xmlns:a16="http://schemas.microsoft.com/office/drawing/2014/main" id="{283EF00B-42B4-4CD8-0834-E53ED142B95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4490" y="0"/>
            <a:ext cx="9723020" cy="6858000"/>
          </a:xfrm>
          <a:prstGeom prst="rect">
            <a:avLst/>
          </a:prstGeom>
        </p:spPr>
      </p:pic>
      <p:pic>
        <p:nvPicPr>
          <p:cNvPr id="7" name="Arrow Move" descr="Cursor with solid fill">
            <a:extLst>
              <a:ext uri="{FF2B5EF4-FFF2-40B4-BE49-F238E27FC236}">
                <a16:creationId xmlns:a16="http://schemas.microsoft.com/office/drawing/2014/main" id="{21A67CF5-D3BF-E846-C085-3B727CF2C85A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816918">
            <a:off x="4031741" y="1640523"/>
            <a:ext cx="333375" cy="333375"/>
          </a:xfrm>
          <a:prstGeom prst="rect">
            <a:avLst/>
          </a:prstGeom>
        </p:spPr>
      </p:pic>
      <p:sp>
        <p:nvSpPr>
          <p:cNvPr id="5" name="link">
            <a:extLst>
              <a:ext uri="{FF2B5EF4-FFF2-40B4-BE49-F238E27FC236}">
                <a16:creationId xmlns:a16="http://schemas.microsoft.com/office/drawing/2014/main" id="{A3805787-A2F1-E35F-A6B0-F832283FC47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708625" y="6482834"/>
            <a:ext cx="711169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A00FF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https://central.sonatype.com/artifact/ch.qos.logback/logback-classic</a:t>
            </a:r>
            <a:endParaRPr lang="en-US" dirty="0">
              <a:solidFill>
                <a:srgbClr val="2A00FF"/>
              </a:solidFill>
            </a:endParaRPr>
          </a:p>
        </p:txBody>
      </p:sp>
      <p:sp>
        <p:nvSpPr>
          <p:cNvPr id="2" name="Caption1">
            <a:extLst>
              <a:ext uri="{FF2B5EF4-FFF2-40B4-BE49-F238E27FC236}">
                <a16:creationId xmlns:a16="http://schemas.microsoft.com/office/drawing/2014/main" id="{19548457-A1F8-D46E-FED9-6907FC17A27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019300" y="5638001"/>
            <a:ext cx="8861815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To resolve the </a:t>
            </a:r>
            <a:r>
              <a:rPr lang="en-US" b="1" dirty="0">
                <a:solidFill>
                  <a:schemeClr val="accent1"/>
                </a:solidFill>
              </a:rPr>
              <a:t>SLF4J</a:t>
            </a:r>
            <a:r>
              <a:rPr lang="en-US" dirty="0">
                <a:solidFill>
                  <a:schemeClr val="accent1"/>
                </a:solidFill>
              </a:rPr>
              <a:t> warning in the console, I will add </a:t>
            </a:r>
            <a:r>
              <a:rPr lang="en-US" b="1" dirty="0" err="1">
                <a:solidFill>
                  <a:schemeClr val="accent1"/>
                </a:solidFill>
              </a:rPr>
              <a:t>logback</a:t>
            </a:r>
            <a:r>
              <a:rPr lang="en-US" b="1" dirty="0">
                <a:solidFill>
                  <a:schemeClr val="accent1"/>
                </a:solidFill>
              </a:rPr>
              <a:t>-classic</a:t>
            </a:r>
            <a:r>
              <a:rPr lang="en-US" dirty="0">
                <a:solidFill>
                  <a:schemeClr val="accent1"/>
                </a:solidFill>
              </a:rPr>
              <a:t> as a dependency. You can find the latest version from the link below or in the video description. Copy the dependency from the website and paste it into </a:t>
            </a:r>
            <a:r>
              <a:rPr lang="en-US" b="1" dirty="0">
                <a:solidFill>
                  <a:schemeClr val="accent1"/>
                </a:solidFill>
              </a:rPr>
              <a:t>pom.xml</a:t>
            </a:r>
            <a:r>
              <a:rPr lang="en-US" dirty="0">
                <a:solidFill>
                  <a:schemeClr val="accent1"/>
                </a:solidFill>
              </a:rPr>
              <a:t>, then set the scope to </a:t>
            </a:r>
            <a:r>
              <a:rPr lang="en-US" b="1" dirty="0">
                <a:solidFill>
                  <a:schemeClr val="accent1"/>
                </a:solidFill>
              </a:rPr>
              <a:t>test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</p:txBody>
      </p:sp>
      <p:pic>
        <p:nvPicPr>
          <p:cNvPr id="14" name="3">
            <a:hlinkClick r:id="" action="ppaction://media"/>
            <a:extLst>
              <a:ext uri="{FF2B5EF4-FFF2-40B4-BE49-F238E27FC236}">
                <a16:creationId xmlns:a16="http://schemas.microsoft.com/office/drawing/2014/main" id="{A1EADF10-352F-1270-7867-F4B6CFECD48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1437520" y="6178034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1150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17762">
        <p159:morph option="byObject"/>
      </p:transition>
    </mc:Choice>
    <mc:Fallback xmlns="">
      <p:transition spd="slow" advClick="0" advTm="17762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109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nodeType="withEffect">
                                  <p:stCondLst>
                                    <p:cond delay="1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1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  <p:bldLst>
      <p:bldP spid="2" grpId="0" animBg="1"/>
    </p:bldLst>
  </p:timing>
  <p:extLst>
    <p:ext uri="{E180D4A7-C9FB-4DFB-919C-405C955672EB}">
      <p14:showEvtLst xmlns:p14="http://schemas.microsoft.com/office/powerpoint/2010/main">
        <p14:playEvt time="0" objId="14"/>
        <p14:stopEvt time="17740" objId="14"/>
      </p14:showEvtLst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Screenshot6">
            <a:extLst>
              <a:ext uri="{FF2B5EF4-FFF2-40B4-BE49-F238E27FC236}">
                <a16:creationId xmlns:a16="http://schemas.microsoft.com/office/drawing/2014/main" id="{4D52036D-F262-9F4D-53F8-21A70A069DD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490" y="0"/>
            <a:ext cx="9723020" cy="6858000"/>
          </a:xfrm>
          <a:prstGeom prst="rect">
            <a:avLst/>
          </a:prstGeom>
        </p:spPr>
      </p:pic>
      <p:pic>
        <p:nvPicPr>
          <p:cNvPr id="54" name="Screenshot5">
            <a:extLst>
              <a:ext uri="{FF2B5EF4-FFF2-40B4-BE49-F238E27FC236}">
                <a16:creationId xmlns:a16="http://schemas.microsoft.com/office/drawing/2014/main" id="{FAF8CF90-03CE-2619-7AFE-134B0F19CBC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4490" y="0"/>
            <a:ext cx="9723020" cy="6858000"/>
          </a:xfrm>
          <a:prstGeom prst="rect">
            <a:avLst/>
          </a:prstGeom>
        </p:spPr>
      </p:pic>
      <p:pic>
        <p:nvPicPr>
          <p:cNvPr id="44" name="Screenshot4">
            <a:extLst>
              <a:ext uri="{FF2B5EF4-FFF2-40B4-BE49-F238E27FC236}">
                <a16:creationId xmlns:a16="http://schemas.microsoft.com/office/drawing/2014/main" id="{243FF87B-7FE7-FB51-366B-721B60F0508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4490" y="0"/>
            <a:ext cx="9723020" cy="6858000"/>
          </a:xfrm>
          <a:prstGeom prst="rect">
            <a:avLst/>
          </a:prstGeom>
        </p:spPr>
      </p:pic>
      <p:pic>
        <p:nvPicPr>
          <p:cNvPr id="31" name="Screenshot3">
            <a:extLst>
              <a:ext uri="{FF2B5EF4-FFF2-40B4-BE49-F238E27FC236}">
                <a16:creationId xmlns:a16="http://schemas.microsoft.com/office/drawing/2014/main" id="{5802961D-905C-F00D-AF0E-7787560EE3D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65014" y="4443394"/>
            <a:ext cx="773123" cy="214331"/>
          </a:xfrm>
          <a:prstGeom prst="rect">
            <a:avLst/>
          </a:prstGeom>
        </p:spPr>
      </p:pic>
      <p:sp>
        <p:nvSpPr>
          <p:cNvPr id="27" name="logback-test.xml">
            <a:extLst>
              <a:ext uri="{FF2B5EF4-FFF2-40B4-BE49-F238E27FC236}">
                <a16:creationId xmlns:a16="http://schemas.microsoft.com/office/drawing/2014/main" id="{7E5256E6-3303-1896-1DF1-B0B0C4F5F3D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49717" y="3436207"/>
            <a:ext cx="10214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logback-test.xml</a:t>
            </a:r>
          </a:p>
        </p:txBody>
      </p:sp>
      <p:pic>
        <p:nvPicPr>
          <p:cNvPr id="37" name="Screenshot2">
            <a:extLst>
              <a:ext uri="{FF2B5EF4-FFF2-40B4-BE49-F238E27FC236}">
                <a16:creationId xmlns:a16="http://schemas.microsoft.com/office/drawing/2014/main" id="{E52125AC-ADEE-46B6-7F8E-3F3A4517313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34490" y="0"/>
            <a:ext cx="9723020" cy="6858000"/>
          </a:xfrm>
          <a:prstGeom prst="rect">
            <a:avLst/>
          </a:prstGeom>
        </p:spPr>
      </p:pic>
      <p:pic>
        <p:nvPicPr>
          <p:cNvPr id="35" name="Screenshot1">
            <a:extLst>
              <a:ext uri="{FF2B5EF4-FFF2-40B4-BE49-F238E27FC236}">
                <a16:creationId xmlns:a16="http://schemas.microsoft.com/office/drawing/2014/main" id="{CDADC234-8747-68D8-E768-F45780038CE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34490" y="0"/>
            <a:ext cx="9723020" cy="6858000"/>
          </a:xfrm>
          <a:prstGeom prst="rect">
            <a:avLst/>
          </a:prstGeom>
        </p:spPr>
      </p:pic>
      <p:sp>
        <p:nvSpPr>
          <p:cNvPr id="57" name="Caption1">
            <a:extLst>
              <a:ext uri="{FF2B5EF4-FFF2-40B4-BE49-F238E27FC236}">
                <a16:creationId xmlns:a16="http://schemas.microsoft.com/office/drawing/2014/main" id="{79247110-3DE2-9AA0-3F63-C13667B3880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539172" y="5284535"/>
            <a:ext cx="8318890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Before we test the log output, I need to create a </a:t>
            </a:r>
            <a:r>
              <a:rPr lang="en-US" dirty="0" err="1">
                <a:solidFill>
                  <a:schemeClr val="accent1"/>
                </a:solidFill>
              </a:rPr>
              <a:t>Logback</a:t>
            </a:r>
            <a:r>
              <a:rPr lang="en-US" dirty="0">
                <a:solidFill>
                  <a:schemeClr val="accent1"/>
                </a:solidFill>
              </a:rPr>
              <a:t> configuration file. I will right-click the </a:t>
            </a:r>
            <a:r>
              <a:rPr lang="en-US" b="1" dirty="0" err="1">
                <a:solidFill>
                  <a:schemeClr val="accent1"/>
                </a:solidFill>
              </a:rPr>
              <a:t>src</a:t>
            </a:r>
            <a:r>
              <a:rPr lang="en-US" b="1" dirty="0">
                <a:solidFill>
                  <a:schemeClr val="accent1"/>
                </a:solidFill>
              </a:rPr>
              <a:t>/test/resources </a:t>
            </a:r>
            <a:r>
              <a:rPr lang="en-US" dirty="0">
                <a:solidFill>
                  <a:schemeClr val="accent1"/>
                </a:solidFill>
              </a:rPr>
              <a:t>directory, choose </a:t>
            </a:r>
            <a:r>
              <a:rPr lang="en-US" b="1" dirty="0">
                <a:solidFill>
                  <a:schemeClr val="accent1"/>
                </a:solidFill>
              </a:rPr>
              <a:t>New</a:t>
            </a:r>
            <a:r>
              <a:rPr lang="en-US" dirty="0">
                <a:solidFill>
                  <a:schemeClr val="accent1"/>
                </a:solidFill>
              </a:rPr>
              <a:t>, then </a:t>
            </a:r>
            <a:r>
              <a:rPr lang="en-US" b="1" dirty="0">
                <a:solidFill>
                  <a:schemeClr val="accent1"/>
                </a:solidFill>
              </a:rPr>
              <a:t>File</a:t>
            </a:r>
            <a:r>
              <a:rPr lang="en-US" dirty="0">
                <a:solidFill>
                  <a:schemeClr val="accent1"/>
                </a:solidFill>
              </a:rPr>
              <a:t>. I will name the file </a:t>
            </a:r>
            <a:r>
              <a:rPr lang="en-US" b="1" dirty="0">
                <a:solidFill>
                  <a:schemeClr val="accent1"/>
                </a:solidFill>
              </a:rPr>
              <a:t>logback-test.xml </a:t>
            </a:r>
            <a:r>
              <a:rPr lang="en-US" dirty="0">
                <a:solidFill>
                  <a:schemeClr val="accent1"/>
                </a:solidFill>
              </a:rPr>
              <a:t>and click </a:t>
            </a:r>
            <a:r>
              <a:rPr lang="en-US" b="1" dirty="0">
                <a:solidFill>
                  <a:schemeClr val="accent1"/>
                </a:solidFill>
              </a:rPr>
              <a:t>Finish</a:t>
            </a:r>
            <a:r>
              <a:rPr lang="en-US" dirty="0">
                <a:solidFill>
                  <a:schemeClr val="accent1"/>
                </a:solidFill>
              </a:rPr>
              <a:t>. After that, I will add a simple configuration to print log messages to the console using the </a:t>
            </a:r>
            <a:r>
              <a:rPr lang="en-US" b="1" dirty="0">
                <a:solidFill>
                  <a:schemeClr val="accent1"/>
                </a:solidFill>
              </a:rPr>
              <a:t>TRACE</a:t>
            </a:r>
            <a:r>
              <a:rPr lang="en-US" dirty="0">
                <a:solidFill>
                  <a:schemeClr val="accent1"/>
                </a:solidFill>
              </a:rPr>
              <a:t> level.</a:t>
            </a:r>
          </a:p>
        </p:txBody>
      </p:sp>
      <p:pic>
        <p:nvPicPr>
          <p:cNvPr id="59" name="Arrow Move" descr="Cursor with solid fill">
            <a:extLst>
              <a:ext uri="{FF2B5EF4-FFF2-40B4-BE49-F238E27FC236}">
                <a16:creationId xmlns:a16="http://schemas.microsoft.com/office/drawing/2014/main" id="{0081E996-B013-3031-538E-FE110A1D91B8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816918">
            <a:off x="2302835" y="1794204"/>
            <a:ext cx="333375" cy="333375"/>
          </a:xfrm>
          <a:prstGeom prst="rect">
            <a:avLst/>
          </a:prstGeom>
        </p:spPr>
      </p:pic>
      <p:pic>
        <p:nvPicPr>
          <p:cNvPr id="60" name="4">
            <a:hlinkClick r:id="" action="ppaction://media"/>
            <a:extLst>
              <a:ext uri="{FF2B5EF4-FFF2-40B4-BE49-F238E27FC236}">
                <a16:creationId xmlns:a16="http://schemas.microsoft.com/office/drawing/2014/main" id="{A4AF0439-BE81-D3B5-4F81-90ECC9C7842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11553144" y="62374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2414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22000">
        <p159:morph option="byObject"/>
      </p:transition>
    </mc:Choice>
    <mc:Fallback xmlns="">
      <p:transition spd="slow" advClick="0" advTm="2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6" presetClass="emph" presetSubtype="0" autoRev="1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Scale>
                                      <p:cBhvr>
                                        <p:cTn id="17" dur="250" fill="hold"/>
                                        <p:tgtEl>
                                          <p:spTgt spid="59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6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fill="hold" nodeType="withEffect">
                                  <p:stCondLst>
                                    <p:cond delay="8500"/>
                                  </p:stCondLst>
                                  <p:childTnLst>
                                    <p:animMotion origin="layout" path="M -4.16667E-6 3.7037E-7 L 0.13334 0.01227 " pathEditMode="relative" rAng="0" ptsTypes="AA">
                                      <p:cBhvr>
                                        <p:cTn id="22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667" y="602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nodeType="withEffect">
                                  <p:stCondLst>
                                    <p:cond delay="9500"/>
                                  </p:stCondLst>
                                  <p:childTnLst>
                                    <p:animMotion origin="layout" path="M 0.13334 0.01227 L 0.24805 0.31181 " pathEditMode="relative" rAng="0" ptsTypes="AA">
                                      <p:cBhvr>
                                        <p:cTn id="24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29" y="14977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6" presetClass="emph" presetSubtype="0" autoRev="1" fill="hold" nodeType="withEffect">
                                  <p:stCondLst>
                                    <p:cond delay="10500"/>
                                  </p:stCondLst>
                                  <p:childTnLst>
                                    <p:animScale>
                                      <p:cBhvr>
                                        <p:cTn id="26" dur="250" fill="hold"/>
                                        <p:tgtEl>
                                          <p:spTgt spid="59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nodeType="withEffect">
                                  <p:stCondLst>
                                    <p:cond delay="1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1200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12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42" presetClass="path" presetSubtype="0" accel="50000" decel="50000" fill="hold" nodeType="withEffect">
                                  <p:stCondLst>
                                    <p:cond delay="12200"/>
                                  </p:stCondLst>
                                  <p:childTnLst>
                                    <p:animMotion origin="layout" path="M 0.24805 0.31181 L 0.35261 0.39745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21" y="4282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6" presetClass="emph" presetSubtype="0" autoRev="1" fill="hold" nodeType="withEffect">
                                  <p:stCondLst>
                                    <p:cond delay="14200"/>
                                  </p:stCondLst>
                                  <p:childTnLst>
                                    <p:animScale>
                                      <p:cBhvr>
                                        <p:cTn id="37" dur="250" fill="hold"/>
                                        <p:tgtEl>
                                          <p:spTgt spid="59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  <p:par>
                                <p:cTn id="38" presetID="1" presetClass="exit" presetSubtype="0" fill="hold" grpId="1" nodeType="withEffect">
                                  <p:stCondLst>
                                    <p:cond delay="1475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nodeType="withEffect">
                                  <p:stCondLst>
                                    <p:cond delay="14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nodeType="withEffect">
                                  <p:stCondLst>
                                    <p:cond delay="14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nodeType="withEffect">
                                  <p:stCondLst>
                                    <p:cond delay="17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4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0"/>
                </p:tgtEl>
              </p:cMediaNode>
            </p:audio>
          </p:childTnLst>
        </p:cTn>
      </p:par>
    </p:tnLst>
    <p:bldLst>
      <p:bldP spid="27" grpId="0"/>
      <p:bldP spid="27" grpId="1"/>
      <p:bldP spid="57" grpId="0" animBg="1"/>
    </p:bldLst>
  </p:timing>
  <p:extLst>
    <p:ext uri="{E180D4A7-C9FB-4DFB-919C-405C955672EB}">
      <p14:showEvtLst xmlns:p14="http://schemas.microsoft.com/office/powerpoint/2010/main">
        <p14:playEvt time="1" objId="12"/>
        <p14:stopEvt time="15628" objId="12"/>
      </p14:showEvtLst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Screenshot5">
            <a:extLst>
              <a:ext uri="{FF2B5EF4-FFF2-40B4-BE49-F238E27FC236}">
                <a16:creationId xmlns:a16="http://schemas.microsoft.com/office/drawing/2014/main" id="{E7DC6080-4109-A389-9BA1-0D5BC40DC55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490" y="0"/>
            <a:ext cx="9723020" cy="6858000"/>
          </a:xfrm>
          <a:prstGeom prst="rect">
            <a:avLst/>
          </a:prstGeom>
        </p:spPr>
      </p:pic>
      <p:pic>
        <p:nvPicPr>
          <p:cNvPr id="19" name="Screenshot4">
            <a:extLst>
              <a:ext uri="{FF2B5EF4-FFF2-40B4-BE49-F238E27FC236}">
                <a16:creationId xmlns:a16="http://schemas.microsoft.com/office/drawing/2014/main" id="{A73AE973-0AA2-81D4-8942-0E4FCAA0091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5128" y="0"/>
            <a:ext cx="9701744" cy="6858000"/>
          </a:xfrm>
          <a:prstGeom prst="rect">
            <a:avLst/>
          </a:prstGeom>
        </p:spPr>
      </p:pic>
      <p:pic>
        <p:nvPicPr>
          <p:cNvPr id="13" name="Screenshot3">
            <a:extLst>
              <a:ext uri="{FF2B5EF4-FFF2-40B4-BE49-F238E27FC236}">
                <a16:creationId xmlns:a16="http://schemas.microsoft.com/office/drawing/2014/main" id="{3E4D2DFA-708F-65A8-6092-5E570EA00FE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4490" y="0"/>
            <a:ext cx="9723020" cy="6858000"/>
          </a:xfrm>
          <a:prstGeom prst="rect">
            <a:avLst/>
          </a:prstGeom>
        </p:spPr>
      </p:pic>
      <p:sp>
        <p:nvSpPr>
          <p:cNvPr id="8" name="collection.print">
            <a:extLst>
              <a:ext uri="{FF2B5EF4-FFF2-40B4-BE49-F238E27FC236}">
                <a16:creationId xmlns:a16="http://schemas.microsoft.com/office/drawing/2014/main" id="{76282F62-98FD-4C62-D6A9-B4FED54ADE3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700460" y="2210350"/>
            <a:ext cx="3921266" cy="209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60" b="1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cxt</a:t>
            </a:r>
            <a:r>
              <a:rPr lang="en-US" sz="76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.getCollection</a:t>
            </a:r>
            <a:r>
              <a:rPr lang="en-US" sz="76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().print();</a:t>
            </a:r>
          </a:p>
        </p:txBody>
      </p:sp>
      <p:pic>
        <p:nvPicPr>
          <p:cNvPr id="10" name="Screenshot2">
            <a:extLst>
              <a:ext uri="{FF2B5EF4-FFF2-40B4-BE49-F238E27FC236}">
                <a16:creationId xmlns:a16="http://schemas.microsoft.com/office/drawing/2014/main" id="{5095F69C-7DF2-77BC-F6A0-AAE520388A0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34490" y="0"/>
            <a:ext cx="9723020" cy="6858000"/>
          </a:xfrm>
          <a:prstGeom prst="rect">
            <a:avLst/>
          </a:prstGeom>
        </p:spPr>
      </p:pic>
      <p:pic>
        <p:nvPicPr>
          <p:cNvPr id="4" name="Screenshot1">
            <a:extLst>
              <a:ext uri="{FF2B5EF4-FFF2-40B4-BE49-F238E27FC236}">
                <a16:creationId xmlns:a16="http://schemas.microsoft.com/office/drawing/2014/main" id="{A3475B44-F849-BD3D-14F2-3EF14E4B396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34490" y="0"/>
            <a:ext cx="9723020" cy="6858000"/>
          </a:xfrm>
          <a:prstGeom prst="rect">
            <a:avLst/>
          </a:prstGeom>
        </p:spPr>
      </p:pic>
      <p:sp>
        <p:nvSpPr>
          <p:cNvPr id="2" name="Caption1">
            <a:extLst>
              <a:ext uri="{FF2B5EF4-FFF2-40B4-BE49-F238E27FC236}">
                <a16:creationId xmlns:a16="http://schemas.microsoft.com/office/drawing/2014/main" id="{19548457-A1F8-D46E-FED9-6907FC17A27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66825" y="5876126"/>
            <a:ext cx="9624010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To test the log output, I will remove the two</a:t>
            </a:r>
            <a:r>
              <a:rPr lang="en-US" b="1" dirty="0">
                <a:solidFill>
                  <a:schemeClr val="accent1"/>
                </a:solidFill>
              </a:rPr>
              <a:t> </a:t>
            </a:r>
            <a:r>
              <a:rPr lang="en-US" b="1" dirty="0" err="1">
                <a:solidFill>
                  <a:schemeClr val="accent1"/>
                </a:solidFill>
              </a:rPr>
              <a:t>System.out.println</a:t>
            </a:r>
            <a:r>
              <a:rPr lang="en-US" b="1" dirty="0">
                <a:solidFill>
                  <a:schemeClr val="accent1"/>
                </a:solidFill>
              </a:rPr>
              <a:t> </a:t>
            </a:r>
            <a:r>
              <a:rPr lang="en-US" dirty="0">
                <a:solidFill>
                  <a:schemeClr val="accent1"/>
                </a:solidFill>
              </a:rPr>
              <a:t>lines and replace them with the collection </a:t>
            </a:r>
            <a:r>
              <a:rPr lang="en-US" b="1" dirty="0">
                <a:solidFill>
                  <a:schemeClr val="accent1"/>
                </a:solidFill>
              </a:rPr>
              <a:t>print() </a:t>
            </a:r>
            <a:r>
              <a:rPr lang="en-US" dirty="0">
                <a:solidFill>
                  <a:schemeClr val="accent1"/>
                </a:solidFill>
              </a:rPr>
              <a:t>statement. Then I will save the file, right-click and run it as a </a:t>
            </a:r>
            <a:r>
              <a:rPr lang="en-US" b="1" dirty="0">
                <a:solidFill>
                  <a:schemeClr val="accent1"/>
                </a:solidFill>
              </a:rPr>
              <a:t>TestNG Test</a:t>
            </a:r>
            <a:r>
              <a:rPr lang="en-US" dirty="0">
                <a:solidFill>
                  <a:schemeClr val="accent1"/>
                </a:solidFill>
              </a:rPr>
              <a:t>. </a:t>
            </a:r>
          </a:p>
          <a:p>
            <a:r>
              <a:rPr lang="en-US" dirty="0">
                <a:solidFill>
                  <a:schemeClr val="accent1"/>
                </a:solidFill>
              </a:rPr>
              <a:t>In the console output, we can see now the collection requests and folders under the root level.</a:t>
            </a:r>
          </a:p>
        </p:txBody>
      </p:sp>
      <p:pic>
        <p:nvPicPr>
          <p:cNvPr id="23" name="Arrow Move" descr="Cursor with solid fill">
            <a:extLst>
              <a:ext uri="{FF2B5EF4-FFF2-40B4-BE49-F238E27FC236}">
                <a16:creationId xmlns:a16="http://schemas.microsoft.com/office/drawing/2014/main" id="{22116F35-3261-903C-067F-68E2B518FD96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816918">
            <a:off x="2207584" y="1689429"/>
            <a:ext cx="333375" cy="333375"/>
          </a:xfrm>
          <a:prstGeom prst="rect">
            <a:avLst/>
          </a:prstGeom>
        </p:spPr>
      </p:pic>
      <p:pic>
        <p:nvPicPr>
          <p:cNvPr id="22" name="5">
            <a:hlinkClick r:id="" action="ppaction://media"/>
            <a:extLst>
              <a:ext uri="{FF2B5EF4-FFF2-40B4-BE49-F238E27FC236}">
                <a16:creationId xmlns:a16="http://schemas.microsoft.com/office/drawing/2014/main" id="{0ABB4425-376A-7059-972B-CDBDD87F27B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11353800" y="59436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497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9000"/>
    </mc:Choice>
    <mc:Fallback xmlns="">
      <p:transition advClick="0" advTm="19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0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600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6" presetClass="emph" presetSubtype="0" autoRev="1" fill="hold" nodeType="withEffect">
                                  <p:stCondLst>
                                    <p:cond delay="9000"/>
                                  </p:stCondLst>
                                  <p:childTnLst>
                                    <p:animScale>
                                      <p:cBhvr>
                                        <p:cTn id="23" dur="250" fill="hold"/>
                                        <p:tgtEl>
                                          <p:spTgt spid="23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grpId="1" nodeType="withEffect">
                                  <p:stCondLst>
                                    <p:cond delay="90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nodeType="withEffect">
                                  <p:stCondLst>
                                    <p:cond delay="9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42" presetClass="path" presetSubtype="0" accel="50000" decel="50000" fill="hold" nodeType="withEffect">
                                  <p:stCondLst>
                                    <p:cond delay="9500"/>
                                  </p:stCondLst>
                                  <p:childTnLst>
                                    <p:animMotion origin="layout" path="M -1.66667E-6 -1.85185E-6 L 0.10873 0.4882 " pathEditMode="relative" rAng="0" ptsTypes="AA">
                                      <p:cBhvr>
                                        <p:cTn id="3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30" y="24398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42" presetClass="path" presetSubtype="0" accel="50000" decel="50000" fill="hold" nodeType="withEffect">
                                  <p:stCondLst>
                                    <p:cond delay="10500"/>
                                  </p:stCondLst>
                                  <p:childTnLst>
                                    <p:animMotion origin="layout" path="M 0.10873 0.4882 L 0.30521 0.48496 " pathEditMode="relative" rAng="0" ptsTypes="AA">
                                      <p:cBhvr>
                                        <p:cTn id="3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818" y="-231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6" presetClass="emph" presetSubtype="0" autoRev="1" fill="hold" nodeType="withEffect">
                                  <p:stCondLst>
                                    <p:cond delay="11500"/>
                                  </p:stCondLst>
                                  <p:childTnLst>
                                    <p:animScale>
                                      <p:cBhvr>
                                        <p:cTn id="35" dur="250" fill="hold"/>
                                        <p:tgtEl>
                                          <p:spTgt spid="23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nodeType="withEffect">
                                  <p:stCondLst>
                                    <p:cond delay="1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3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2"/>
                </p:tgtEl>
              </p:cMediaNode>
            </p:audio>
          </p:childTnLst>
        </p:cTn>
      </p:par>
    </p:tnLst>
    <p:bldLst>
      <p:bldP spid="8" grpId="0"/>
      <p:bldP spid="8" grpId="1"/>
      <p:bldP spid="2" grpId="0" animBg="1"/>
    </p:bldLst>
  </p:timing>
  <p:extLst>
    <p:ext uri="{E180D4A7-C9FB-4DFB-919C-405C955672EB}">
      <p14:showEvtLst xmlns:p14="http://schemas.microsoft.com/office/powerpoint/2010/main">
        <p14:playEvt time="1" objId="12"/>
        <p14:stopEvt time="15628" objId="12"/>
      </p14:showEvtLst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Screenshot1">
            <a:extLst>
              <a:ext uri="{FF2B5EF4-FFF2-40B4-BE49-F238E27FC236}">
                <a16:creationId xmlns:a16="http://schemas.microsoft.com/office/drawing/2014/main" id="{B653D885-19CB-B6B4-4B01-DC6308D428B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914400" y="-914400"/>
            <a:ext cx="14778990" cy="10424160"/>
          </a:xfrm>
          <a:prstGeom prst="rect">
            <a:avLst/>
          </a:prstGeom>
        </p:spPr>
      </p:pic>
      <p:sp>
        <p:nvSpPr>
          <p:cNvPr id="18" name="collection.getRequest">
            <a:extLst>
              <a:ext uri="{FF2B5EF4-FFF2-40B4-BE49-F238E27FC236}">
                <a16:creationId xmlns:a16="http://schemas.microsoft.com/office/drawing/2014/main" id="{34E14242-352C-3492-03D7-34A3F2D761C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874551" y="3331880"/>
            <a:ext cx="6556051" cy="2708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60" b="1" kern="0" dirty="0">
                <a:solidFill>
                  <a:srgbClr val="363636"/>
                </a:solidFill>
                <a:latin typeface="Consolas" panose="020B0609020204030204" pitchFamily="49" charset="0"/>
              </a:rPr>
              <a:t>Request req = </a:t>
            </a:r>
            <a:r>
              <a:rPr lang="en-US" sz="1160" b="1" kern="0" dirty="0" err="1">
                <a:solidFill>
                  <a:srgbClr val="363636"/>
                </a:solidFill>
                <a:latin typeface="Consolas" panose="020B0609020204030204" pitchFamily="49" charset="0"/>
              </a:rPr>
              <a:t>cxt.getCollection</a:t>
            </a:r>
            <a:r>
              <a:rPr lang="en-US" sz="1160" b="1" kern="0" dirty="0">
                <a:solidFill>
                  <a:srgbClr val="363636"/>
                </a:solidFill>
                <a:latin typeface="Consolas" panose="020B0609020204030204" pitchFamily="49" charset="0"/>
              </a:rPr>
              <a:t>().</a:t>
            </a:r>
            <a:r>
              <a:rPr lang="en-US" sz="1160" b="1" kern="0" dirty="0" err="1">
                <a:solidFill>
                  <a:srgbClr val="363636"/>
                </a:solidFill>
                <a:latin typeface="Consolas" panose="020B0609020204030204" pitchFamily="49" charset="0"/>
              </a:rPr>
              <a:t>getRequest</a:t>
            </a:r>
            <a:r>
              <a:rPr lang="en-US" sz="1160" b="1" kern="0" dirty="0">
                <a:solidFill>
                  <a:srgbClr val="363636"/>
                </a:solidFill>
                <a:latin typeface="Consolas" panose="020B0609020204030204" pitchFamily="49" charset="0"/>
              </a:rPr>
              <a:t>(</a:t>
            </a:r>
            <a:endParaRPr lang="en-US" sz="1160" b="1" kern="0" dirty="0">
              <a:solidFill>
                <a:srgbClr val="2A00FF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io.jpostman.Request">
            <a:extLst>
              <a:ext uri="{FF2B5EF4-FFF2-40B4-BE49-F238E27FC236}">
                <a16:creationId xmlns:a16="http://schemas.microsoft.com/office/drawing/2014/main" id="{76282F62-98FD-4C62-D6A9-B4FED54ADE3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237566" y="753592"/>
            <a:ext cx="3921266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60" b="1" kern="0" dirty="0">
                <a:solidFill>
                  <a:srgbClr val="950055"/>
                </a:solidFill>
                <a:latin typeface="Consolas" panose="020B0609020204030204" pitchFamily="49" charset="0"/>
              </a:rPr>
              <a:t>import</a:t>
            </a:r>
            <a:r>
              <a:rPr lang="en-US" sz="1160" b="1" kern="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160" b="1" kern="0" dirty="0" err="1">
                <a:solidFill>
                  <a:srgbClr val="363636"/>
                </a:solidFill>
                <a:latin typeface="Consolas" panose="020B0609020204030204" pitchFamily="49" charset="0"/>
              </a:rPr>
              <a:t>io.jpostman.Request</a:t>
            </a:r>
            <a:r>
              <a:rPr lang="en-US" sz="1160" b="1" kern="0" dirty="0">
                <a:solidFill>
                  <a:srgbClr val="363636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27" name="CaptionBackground">
            <a:extLst>
              <a:ext uri="{FF2B5EF4-FFF2-40B4-BE49-F238E27FC236}">
                <a16:creationId xmlns:a16="http://schemas.microsoft.com/office/drawing/2014/main" id="{9900376B-D319-66FF-59D5-F1DF6A01948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61794" y="4662342"/>
            <a:ext cx="10429322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accent1"/>
              </a:solidFill>
            </a:endParaRPr>
          </a:p>
          <a:p>
            <a:endParaRPr lang="en-US" dirty="0">
              <a:solidFill>
                <a:schemeClr val="accent1"/>
              </a:solidFill>
            </a:endParaRPr>
          </a:p>
          <a:p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" name="Caption1">
            <a:extLst>
              <a:ext uri="{FF2B5EF4-FFF2-40B4-BE49-F238E27FC236}">
                <a16:creationId xmlns:a16="http://schemas.microsoft.com/office/drawing/2014/main" id="{19548457-A1F8-D46E-FED9-6907FC17A27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71319" y="4662342"/>
            <a:ext cx="10429322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To inspect the request details, I will create a local Request variable. We will reuse this request later with the </a:t>
            </a:r>
            <a:r>
              <a:rPr lang="en-US" b="1" dirty="0" err="1">
                <a:solidFill>
                  <a:schemeClr val="accent1"/>
                </a:solidFill>
              </a:rPr>
              <a:t>RestAssuredExecutor</a:t>
            </a:r>
            <a:r>
              <a:rPr lang="en-US" dirty="0">
                <a:solidFill>
                  <a:schemeClr val="accent1"/>
                </a:solidFill>
              </a:rPr>
              <a:t>. First, I will add the </a:t>
            </a:r>
            <a:r>
              <a:rPr lang="en-US" dirty="0" err="1">
                <a:solidFill>
                  <a:schemeClr val="accent1"/>
                </a:solidFill>
              </a:rPr>
              <a:t>JPostman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b="1" dirty="0">
                <a:solidFill>
                  <a:schemeClr val="accent1"/>
                </a:solidFill>
              </a:rPr>
              <a:t>Request</a:t>
            </a:r>
            <a:r>
              <a:rPr lang="en-US" dirty="0">
                <a:solidFill>
                  <a:schemeClr val="accent1"/>
                </a:solidFill>
              </a:rPr>
              <a:t> import, then call </a:t>
            </a:r>
            <a:r>
              <a:rPr lang="en-US" b="1" dirty="0" err="1">
                <a:solidFill>
                  <a:schemeClr val="accent1"/>
                </a:solidFill>
              </a:rPr>
              <a:t>getRequest</a:t>
            </a:r>
            <a:r>
              <a:rPr lang="en-US" dirty="0">
                <a:solidFill>
                  <a:schemeClr val="accent1"/>
                </a:solidFill>
              </a:rPr>
              <a:t>() from the loaded collection.</a:t>
            </a:r>
          </a:p>
        </p:txBody>
      </p:sp>
      <p:pic>
        <p:nvPicPr>
          <p:cNvPr id="26" name="6">
            <a:hlinkClick r:id="" action="ppaction://media"/>
            <a:extLst>
              <a:ext uri="{FF2B5EF4-FFF2-40B4-BE49-F238E27FC236}">
                <a16:creationId xmlns:a16="http://schemas.microsoft.com/office/drawing/2014/main" id="{AF95F35D-FBD8-8523-C3AB-724F9829B3C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2898170" y="6048469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8536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15500">
        <p159:morph option="byObject"/>
      </p:transition>
    </mc:Choice>
    <mc:Fallback xmlns="">
      <p:transition spd="slow" advClick="0" advTm="155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900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1200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1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6"/>
                </p:tgtEl>
              </p:cMediaNode>
            </p:audio>
          </p:childTnLst>
        </p:cTn>
      </p:par>
    </p:tnLst>
    <p:bldLst>
      <p:bldP spid="18" grpId="0"/>
      <p:bldP spid="8" grpId="0"/>
      <p:bldP spid="2" grpId="0" animBg="1"/>
    </p:bldLst>
  </p:timing>
  <p:extLst>
    <p:ext uri="{E180D4A7-C9FB-4DFB-919C-405C955672EB}">
      <p14:showEvtLst xmlns:p14="http://schemas.microsoft.com/office/powerpoint/2010/main">
        <p14:playEvt time="1" objId="12"/>
        <p14:stopEvt time="15628" objId="12"/>
      </p14:showEvtLst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Screenshot2">
            <a:extLst>
              <a:ext uri="{FF2B5EF4-FFF2-40B4-BE49-F238E27FC236}">
                <a16:creationId xmlns:a16="http://schemas.microsoft.com/office/drawing/2014/main" id="{1053E3E6-98A6-187C-3800-A1F2E90F420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914400" y="-914400"/>
            <a:ext cx="14778990" cy="10424160"/>
          </a:xfrm>
          <a:prstGeom prst="rect">
            <a:avLst/>
          </a:prstGeom>
        </p:spPr>
      </p:pic>
      <p:pic>
        <p:nvPicPr>
          <p:cNvPr id="11" name="Screenshot1">
            <a:extLst>
              <a:ext uri="{FF2B5EF4-FFF2-40B4-BE49-F238E27FC236}">
                <a16:creationId xmlns:a16="http://schemas.microsoft.com/office/drawing/2014/main" id="{B653D885-19CB-B6B4-4B01-DC6308D428B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914400" y="-914400"/>
            <a:ext cx="14778990" cy="10424160"/>
          </a:xfrm>
          <a:prstGeom prst="rect">
            <a:avLst/>
          </a:prstGeom>
        </p:spPr>
      </p:pic>
      <p:sp>
        <p:nvSpPr>
          <p:cNvPr id="12" name="req.print">
            <a:extLst>
              <a:ext uri="{FF2B5EF4-FFF2-40B4-BE49-F238E27FC236}">
                <a16:creationId xmlns:a16="http://schemas.microsoft.com/office/drawing/2014/main" id="{39BB7FB0-F4D5-1511-896C-DF3CA7BA223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874550" y="3331880"/>
            <a:ext cx="6682199" cy="4493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60" b="1" kern="0" dirty="0">
                <a:solidFill>
                  <a:srgbClr val="363636"/>
                </a:solidFill>
                <a:latin typeface="Consolas" panose="020B0609020204030204" pitchFamily="49" charset="0"/>
              </a:rPr>
              <a:t>                                             </a:t>
            </a:r>
            <a:r>
              <a:rPr lang="en-US" sz="1160" b="1" kern="0" dirty="0">
                <a:solidFill>
                  <a:srgbClr val="1800FF"/>
                </a:solidFill>
                <a:latin typeface="Consolas" panose="020B0609020204030204" pitchFamily="49" charset="0"/>
              </a:rPr>
              <a:t>"Login user and get tokens"</a:t>
            </a:r>
            <a:r>
              <a:rPr lang="en-US" sz="1160" b="1" kern="0" dirty="0">
                <a:solidFill>
                  <a:srgbClr val="363636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160" b="1" kern="0" dirty="0" err="1">
                <a:solidFill>
                  <a:srgbClr val="363636"/>
                </a:solidFill>
                <a:latin typeface="Consolas" panose="020B0609020204030204" pitchFamily="49" charset="0"/>
              </a:rPr>
              <a:t>req.print</a:t>
            </a:r>
            <a:r>
              <a:rPr lang="en-US" sz="1160" b="1" kern="0" dirty="0">
                <a:solidFill>
                  <a:srgbClr val="363636"/>
                </a:solidFill>
                <a:latin typeface="Consolas" panose="020B0609020204030204" pitchFamily="49" charset="0"/>
              </a:rPr>
              <a:t>();</a:t>
            </a:r>
          </a:p>
        </p:txBody>
      </p:sp>
      <p:sp>
        <p:nvSpPr>
          <p:cNvPr id="18" name="collection.getRequest">
            <a:extLst>
              <a:ext uri="{FF2B5EF4-FFF2-40B4-BE49-F238E27FC236}">
                <a16:creationId xmlns:a16="http://schemas.microsoft.com/office/drawing/2014/main" id="{34E14242-352C-3492-03D7-34A3F2D761C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874551" y="3331880"/>
            <a:ext cx="6556051" cy="2708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60" b="1" kern="0" dirty="0">
                <a:solidFill>
                  <a:srgbClr val="363636"/>
                </a:solidFill>
                <a:latin typeface="Consolas" panose="020B0609020204030204" pitchFamily="49" charset="0"/>
              </a:rPr>
              <a:t>Request req = </a:t>
            </a:r>
            <a:r>
              <a:rPr lang="en-US" sz="1160" b="1" kern="0" dirty="0" err="1">
                <a:solidFill>
                  <a:srgbClr val="363636"/>
                </a:solidFill>
                <a:latin typeface="Consolas" panose="020B0609020204030204" pitchFamily="49" charset="0"/>
              </a:rPr>
              <a:t>cxt.getCollection</a:t>
            </a:r>
            <a:r>
              <a:rPr lang="en-US" sz="1160" b="1" kern="0" dirty="0">
                <a:solidFill>
                  <a:srgbClr val="363636"/>
                </a:solidFill>
                <a:latin typeface="Consolas" panose="020B0609020204030204" pitchFamily="49" charset="0"/>
              </a:rPr>
              <a:t>().</a:t>
            </a:r>
            <a:r>
              <a:rPr lang="en-US" sz="1160" b="1" kern="0" dirty="0" err="1">
                <a:solidFill>
                  <a:srgbClr val="363636"/>
                </a:solidFill>
                <a:latin typeface="Consolas" panose="020B0609020204030204" pitchFamily="49" charset="0"/>
              </a:rPr>
              <a:t>getRequest</a:t>
            </a:r>
            <a:r>
              <a:rPr lang="en-US" sz="1160" b="1" kern="0" dirty="0">
                <a:solidFill>
                  <a:srgbClr val="363636"/>
                </a:solidFill>
                <a:latin typeface="Consolas" panose="020B0609020204030204" pitchFamily="49" charset="0"/>
              </a:rPr>
              <a:t>(</a:t>
            </a:r>
            <a:endParaRPr lang="en-US" sz="1160" b="1" kern="0" dirty="0">
              <a:solidFill>
                <a:srgbClr val="1800FF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io.jpostman.Request">
            <a:extLst>
              <a:ext uri="{FF2B5EF4-FFF2-40B4-BE49-F238E27FC236}">
                <a16:creationId xmlns:a16="http://schemas.microsoft.com/office/drawing/2014/main" id="{76282F62-98FD-4C62-D6A9-B4FED54ADE3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237566" y="753592"/>
            <a:ext cx="3921266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60" b="1" kern="0" dirty="0">
                <a:solidFill>
                  <a:srgbClr val="950055"/>
                </a:solidFill>
                <a:latin typeface="Consolas" panose="020B0609020204030204" pitchFamily="49" charset="0"/>
              </a:rPr>
              <a:t>import</a:t>
            </a:r>
            <a:r>
              <a:rPr lang="en-US" sz="1160" b="1" kern="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160" b="1" kern="0" dirty="0" err="1">
                <a:solidFill>
                  <a:srgbClr val="363636"/>
                </a:solidFill>
                <a:latin typeface="Consolas" panose="020B0609020204030204" pitchFamily="49" charset="0"/>
              </a:rPr>
              <a:t>io.jpostman.Request</a:t>
            </a:r>
            <a:r>
              <a:rPr lang="en-US" sz="1160" b="1" kern="0" dirty="0">
                <a:solidFill>
                  <a:srgbClr val="363636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6" name="CaptionBackground">
            <a:extLst>
              <a:ext uri="{FF2B5EF4-FFF2-40B4-BE49-F238E27FC236}">
                <a16:creationId xmlns:a16="http://schemas.microsoft.com/office/drawing/2014/main" id="{B9D0BEB3-A10F-49C0-0E4F-37F24C0DC54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61794" y="4662342"/>
            <a:ext cx="10429322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accent1"/>
              </a:solidFill>
            </a:endParaRPr>
          </a:p>
          <a:p>
            <a:endParaRPr lang="en-US" dirty="0">
              <a:solidFill>
                <a:schemeClr val="accent1"/>
              </a:solidFill>
            </a:endParaRPr>
          </a:p>
          <a:p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" name="Caption1">
            <a:extLst>
              <a:ext uri="{FF2B5EF4-FFF2-40B4-BE49-F238E27FC236}">
                <a16:creationId xmlns:a16="http://schemas.microsoft.com/office/drawing/2014/main" id="{19548457-A1F8-D46E-FED9-6907FC17A27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71319" y="4662342"/>
            <a:ext cx="10429322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For the first </a:t>
            </a:r>
            <a:r>
              <a:rPr lang="en-US" b="1" dirty="0">
                <a:solidFill>
                  <a:schemeClr val="accent1"/>
                </a:solidFill>
              </a:rPr>
              <a:t>POST</a:t>
            </a:r>
            <a:r>
              <a:rPr lang="en-US" dirty="0">
                <a:solidFill>
                  <a:schemeClr val="accent1"/>
                </a:solidFill>
              </a:rPr>
              <a:t> request, I will use the request name shown in the console: </a:t>
            </a:r>
            <a:r>
              <a:rPr lang="en-US" b="1" dirty="0">
                <a:solidFill>
                  <a:schemeClr val="accent1"/>
                </a:solidFill>
              </a:rPr>
              <a:t>Login user and get tokens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  <a:p>
            <a:r>
              <a:rPr lang="en-US" dirty="0">
                <a:solidFill>
                  <a:schemeClr val="accent1"/>
                </a:solidFill>
              </a:rPr>
              <a:t>I will copy that name, paste it into the </a:t>
            </a:r>
            <a:r>
              <a:rPr lang="en-US" b="1" dirty="0" err="1">
                <a:solidFill>
                  <a:schemeClr val="accent1"/>
                </a:solidFill>
              </a:rPr>
              <a:t>getRequest</a:t>
            </a:r>
            <a:r>
              <a:rPr lang="en-US" dirty="0">
                <a:solidFill>
                  <a:schemeClr val="accent1"/>
                </a:solidFill>
              </a:rPr>
              <a:t> method, and then call </a:t>
            </a:r>
            <a:r>
              <a:rPr lang="en-US" b="1" dirty="0">
                <a:solidFill>
                  <a:schemeClr val="accent1"/>
                </a:solidFill>
              </a:rPr>
              <a:t>print() </a:t>
            </a:r>
            <a:r>
              <a:rPr lang="en-US" dirty="0">
                <a:solidFill>
                  <a:schemeClr val="accent1"/>
                </a:solidFill>
              </a:rPr>
              <a:t>to display the request debug information.</a:t>
            </a:r>
          </a:p>
        </p:txBody>
      </p:sp>
      <p:pic>
        <p:nvPicPr>
          <p:cNvPr id="10" name="Arrow Move" descr="Cursor with solid fill">
            <a:extLst>
              <a:ext uri="{FF2B5EF4-FFF2-40B4-BE49-F238E27FC236}">
                <a16:creationId xmlns:a16="http://schemas.microsoft.com/office/drawing/2014/main" id="{50733E7D-0151-4FDA-AA16-ACA496310B97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816918">
            <a:off x="2827162" y="5836343"/>
            <a:ext cx="333375" cy="333375"/>
          </a:xfrm>
          <a:prstGeom prst="rect">
            <a:avLst/>
          </a:prstGeom>
        </p:spPr>
      </p:pic>
      <p:pic>
        <p:nvPicPr>
          <p:cNvPr id="15" name="7">
            <a:hlinkClick r:id="" action="ppaction://media"/>
            <a:extLst>
              <a:ext uri="{FF2B5EF4-FFF2-40B4-BE49-F238E27FC236}">
                <a16:creationId xmlns:a16="http://schemas.microsoft.com/office/drawing/2014/main" id="{1D900F12-3AFA-9DB4-5629-3D92C362574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2585700" y="610235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447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5000"/>
    </mc:Choice>
    <mc:Fallback xmlns="">
      <p:transition advClick="0" advTm="1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7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900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2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  <p:bldLst>
      <p:bldP spid="12" grpId="0"/>
      <p:bldP spid="18" grpId="0"/>
      <p:bldP spid="8" grpId="0"/>
      <p:bldP spid="2" grpId="0" animBg="1"/>
    </p:bldLst>
  </p:timing>
  <p:extLst>
    <p:ext uri="{E180D4A7-C9FB-4DFB-919C-405C955672EB}">
      <p14:showEvtLst xmlns:p14="http://schemas.microsoft.com/office/powerpoint/2010/main">
        <p14:playEvt time="1" objId="12"/>
        <p14:stopEvt time="15628" objId="12"/>
      </p14:showEvtLst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Screenshot3">
            <a:extLst>
              <a:ext uri="{FF2B5EF4-FFF2-40B4-BE49-F238E27FC236}">
                <a16:creationId xmlns:a16="http://schemas.microsoft.com/office/drawing/2014/main" id="{732AE58B-4138-9855-047F-EE2ACB1DB09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914400" y="-914400"/>
            <a:ext cx="14778990" cy="10424160"/>
          </a:xfrm>
          <a:prstGeom prst="rect">
            <a:avLst/>
          </a:prstGeom>
        </p:spPr>
      </p:pic>
      <p:pic>
        <p:nvPicPr>
          <p:cNvPr id="20" name="Screenshot2">
            <a:extLst>
              <a:ext uri="{FF2B5EF4-FFF2-40B4-BE49-F238E27FC236}">
                <a16:creationId xmlns:a16="http://schemas.microsoft.com/office/drawing/2014/main" id="{13939DAC-5BD0-5250-3A52-B417B73641C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914400" y="-914400"/>
            <a:ext cx="14778990" cy="10424160"/>
          </a:xfrm>
          <a:prstGeom prst="rect">
            <a:avLst/>
          </a:prstGeom>
        </p:spPr>
      </p:pic>
      <p:pic>
        <p:nvPicPr>
          <p:cNvPr id="17" name="Screenshot1">
            <a:extLst>
              <a:ext uri="{FF2B5EF4-FFF2-40B4-BE49-F238E27FC236}">
                <a16:creationId xmlns:a16="http://schemas.microsoft.com/office/drawing/2014/main" id="{83A1F7BB-EE06-17BC-48F7-A5CA6CEB9A6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914400" y="-914400"/>
            <a:ext cx="14778990" cy="10424160"/>
          </a:xfrm>
          <a:prstGeom prst="rect">
            <a:avLst/>
          </a:prstGeom>
        </p:spPr>
      </p:pic>
      <p:sp>
        <p:nvSpPr>
          <p:cNvPr id="23" name="CaptionBackground">
            <a:extLst>
              <a:ext uri="{FF2B5EF4-FFF2-40B4-BE49-F238E27FC236}">
                <a16:creationId xmlns:a16="http://schemas.microsoft.com/office/drawing/2014/main" id="{E63F34E4-73E1-1C51-9B18-267382CB5E1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61794" y="4662342"/>
            <a:ext cx="10429322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accent1"/>
              </a:solidFill>
            </a:endParaRPr>
          </a:p>
          <a:p>
            <a:endParaRPr lang="en-US" dirty="0">
              <a:solidFill>
                <a:schemeClr val="accent1"/>
              </a:solidFill>
            </a:endParaRPr>
          </a:p>
          <a:p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" name="Caption1">
            <a:extLst>
              <a:ext uri="{FF2B5EF4-FFF2-40B4-BE49-F238E27FC236}">
                <a16:creationId xmlns:a16="http://schemas.microsoft.com/office/drawing/2014/main" id="{19548457-A1F8-D46E-FED9-6907FC17A27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71319" y="4662342"/>
            <a:ext cx="10429322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Before running the test, I will comment out the previous collection debug output so the console shows only the selected request details. Then I will use </a:t>
            </a:r>
            <a:r>
              <a:rPr lang="en-US" b="1" dirty="0">
                <a:solidFill>
                  <a:schemeClr val="accent1"/>
                </a:solidFill>
              </a:rPr>
              <a:t>Ctrl + F11 </a:t>
            </a:r>
            <a:r>
              <a:rPr lang="en-US" dirty="0">
                <a:solidFill>
                  <a:schemeClr val="accent1"/>
                </a:solidFill>
              </a:rPr>
              <a:t>to run the last </a:t>
            </a:r>
            <a:r>
              <a:rPr lang="en-US" b="1" dirty="0">
                <a:solidFill>
                  <a:schemeClr val="accent1"/>
                </a:solidFill>
              </a:rPr>
              <a:t>TestNG Test </a:t>
            </a:r>
            <a:r>
              <a:rPr lang="en-US" dirty="0">
                <a:solidFill>
                  <a:schemeClr val="accent1"/>
                </a:solidFill>
              </a:rPr>
              <a:t>again. As a result, we can see the request description and body with </a:t>
            </a:r>
            <a:r>
              <a:rPr lang="en-US" b="1" dirty="0">
                <a:solidFill>
                  <a:schemeClr val="accent1"/>
                </a:solidFill>
              </a:rPr>
              <a:t>unresolved placeholders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</p:txBody>
      </p:sp>
      <p:pic>
        <p:nvPicPr>
          <p:cNvPr id="13" name="Arrow Move" descr="Cursor with solid fill">
            <a:extLst>
              <a:ext uri="{FF2B5EF4-FFF2-40B4-BE49-F238E27FC236}">
                <a16:creationId xmlns:a16="http://schemas.microsoft.com/office/drawing/2014/main" id="{3D65282C-A62E-7167-1461-4DCB4E5A4059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816918">
            <a:off x="4061785" y="6490070"/>
            <a:ext cx="333375" cy="333375"/>
          </a:xfrm>
          <a:prstGeom prst="rect">
            <a:avLst/>
          </a:prstGeom>
        </p:spPr>
      </p:pic>
      <p:pic>
        <p:nvPicPr>
          <p:cNvPr id="14" name="8">
            <a:hlinkClick r:id="" action="ppaction://media"/>
            <a:extLst>
              <a:ext uri="{FF2B5EF4-FFF2-40B4-BE49-F238E27FC236}">
                <a16:creationId xmlns:a16="http://schemas.microsoft.com/office/drawing/2014/main" id="{A751257D-3B8D-5114-1F11-546305076CC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2738100" y="75819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3323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20000">
        <p159:morph option="byObject"/>
      </p:transition>
    </mc:Choice>
    <mc:Fallback xmlns="">
      <p:transition spd="slow" advClick="0" advTm="2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0" presetClass="exit" presetSubtype="0" fill="hold" nodeType="withEffect">
                                  <p:stCondLst>
                                    <p:cond delay="10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nodeType="withEffect">
                                  <p:stCondLst>
                                    <p:cond delay="12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nodeType="withEffect">
                                  <p:stCondLst>
                                    <p:cond delay="1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  <p:bldLst>
      <p:bldP spid="2" grpId="0" animBg="1"/>
    </p:bldLst>
  </p:timing>
  <p:extLst>
    <p:ext uri="{E180D4A7-C9FB-4DFB-919C-405C955672EB}">
      <p14:showEvtLst xmlns:p14="http://schemas.microsoft.com/office/powerpoint/2010/main">
        <p14:playEvt time="1" objId="12"/>
        <p14:stopEvt time="15628" objId="12"/>
      </p14:showEvtLst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Screenshot1">
            <a:extLst>
              <a:ext uri="{FF2B5EF4-FFF2-40B4-BE49-F238E27FC236}">
                <a16:creationId xmlns:a16="http://schemas.microsoft.com/office/drawing/2014/main" id="{13939DAC-5BD0-5250-3A52-B417B73641C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914400" y="-914400"/>
            <a:ext cx="14778990" cy="10424160"/>
          </a:xfrm>
          <a:prstGeom prst="rect">
            <a:avLst/>
          </a:prstGeom>
        </p:spPr>
      </p:pic>
      <p:sp>
        <p:nvSpPr>
          <p:cNvPr id="11" name="CaptionBackground">
            <a:extLst>
              <a:ext uri="{FF2B5EF4-FFF2-40B4-BE49-F238E27FC236}">
                <a16:creationId xmlns:a16="http://schemas.microsoft.com/office/drawing/2014/main" id="{6702C8E8-B4CD-F1B1-E02D-37F52FEB39D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61794" y="4662342"/>
            <a:ext cx="10429322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accent1"/>
              </a:solidFill>
            </a:endParaRPr>
          </a:p>
          <a:p>
            <a:endParaRPr lang="en-US" dirty="0">
              <a:solidFill>
                <a:schemeClr val="accent1"/>
              </a:solidFill>
            </a:endParaRPr>
          </a:p>
          <a:p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" name="Caption1">
            <a:extLst>
              <a:ext uri="{FF2B5EF4-FFF2-40B4-BE49-F238E27FC236}">
                <a16:creationId xmlns:a16="http://schemas.microsoft.com/office/drawing/2014/main" id="{19548457-A1F8-D46E-FED9-6907FC17A27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71319" y="4662342"/>
            <a:ext cx="10429322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Instead of hardcoding values in Java, we will read them from the exported Postman environment JSON file. </a:t>
            </a:r>
            <a:r>
              <a:rPr lang="en-US" u="sng" dirty="0">
                <a:solidFill>
                  <a:schemeClr val="accent1"/>
                </a:solidFill>
              </a:rPr>
              <a:t>This helps avoid code changes when the API changes in Postman</a:t>
            </a:r>
            <a:r>
              <a:rPr lang="en-US" dirty="0">
                <a:solidFill>
                  <a:schemeClr val="accent1"/>
                </a:solidFill>
              </a:rPr>
              <a:t>. I will add the </a:t>
            </a:r>
            <a:r>
              <a:rPr lang="en-US" b="1" dirty="0">
                <a:solidFill>
                  <a:schemeClr val="accent1"/>
                </a:solidFill>
              </a:rPr>
              <a:t>Environment</a:t>
            </a:r>
            <a:r>
              <a:rPr lang="en-US" dirty="0">
                <a:solidFill>
                  <a:schemeClr val="accent1"/>
                </a:solidFill>
              </a:rPr>
              <a:t> import, define an environment variable, and </a:t>
            </a:r>
            <a:r>
              <a:rPr lang="en-US" b="1" dirty="0">
                <a:solidFill>
                  <a:schemeClr val="accent1"/>
                </a:solidFill>
              </a:rPr>
              <a:t>print</a:t>
            </a:r>
            <a:r>
              <a:rPr lang="en-US" dirty="0">
                <a:solidFill>
                  <a:schemeClr val="accent1"/>
                </a:solidFill>
              </a:rPr>
              <a:t> the environment details to inspect the available variables.</a:t>
            </a:r>
          </a:p>
        </p:txBody>
      </p:sp>
      <p:sp>
        <p:nvSpPr>
          <p:cNvPr id="10" name="env.print">
            <a:extLst>
              <a:ext uri="{FF2B5EF4-FFF2-40B4-BE49-F238E27FC236}">
                <a16:creationId xmlns:a16="http://schemas.microsoft.com/office/drawing/2014/main" id="{06AB53FC-AA8E-644D-F96C-6A6EE694108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878667" y="3843656"/>
            <a:ext cx="6556051" cy="2708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60" b="1" kern="0" dirty="0" err="1">
                <a:solidFill>
                  <a:srgbClr val="363636"/>
                </a:solidFill>
                <a:latin typeface="Consolas" panose="020B0609020204030204" pitchFamily="49" charset="0"/>
              </a:rPr>
              <a:t>env.print</a:t>
            </a:r>
            <a:r>
              <a:rPr lang="en-US" sz="1160" b="1" kern="0" dirty="0">
                <a:solidFill>
                  <a:srgbClr val="363636"/>
                </a:solidFill>
                <a:latin typeface="Consolas" panose="020B0609020204030204" pitchFamily="49" charset="0"/>
              </a:rPr>
              <a:t>();</a:t>
            </a:r>
            <a:endParaRPr lang="en-US" sz="1160" b="1" kern="0" dirty="0">
              <a:solidFill>
                <a:srgbClr val="2A00FF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cxt.getEnvironment">
            <a:extLst>
              <a:ext uri="{FF2B5EF4-FFF2-40B4-BE49-F238E27FC236}">
                <a16:creationId xmlns:a16="http://schemas.microsoft.com/office/drawing/2014/main" id="{F8B0EC7C-C725-ECD0-02AE-65C786DF512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874551" y="3674780"/>
            <a:ext cx="6556051" cy="2708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60" b="1" kern="0" dirty="0">
                <a:solidFill>
                  <a:srgbClr val="363636"/>
                </a:solidFill>
                <a:latin typeface="Consolas" panose="020B0609020204030204" pitchFamily="49" charset="0"/>
              </a:rPr>
              <a:t>Environment env = </a:t>
            </a:r>
            <a:r>
              <a:rPr lang="en-US" sz="1160" b="1" kern="0" dirty="0" err="1">
                <a:solidFill>
                  <a:srgbClr val="363636"/>
                </a:solidFill>
                <a:latin typeface="Consolas" panose="020B0609020204030204" pitchFamily="49" charset="0"/>
              </a:rPr>
              <a:t>cxt.getEnvironment</a:t>
            </a:r>
            <a:r>
              <a:rPr lang="en-US" sz="1160" b="1" kern="0" dirty="0">
                <a:solidFill>
                  <a:srgbClr val="363636"/>
                </a:solidFill>
                <a:latin typeface="Consolas" panose="020B0609020204030204" pitchFamily="49" charset="0"/>
              </a:rPr>
              <a:t>();</a:t>
            </a:r>
            <a:endParaRPr lang="en-US" sz="1160" b="1" kern="0" dirty="0">
              <a:solidFill>
                <a:srgbClr val="2A00FF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io.jpostman.Environment">
            <a:extLst>
              <a:ext uri="{FF2B5EF4-FFF2-40B4-BE49-F238E27FC236}">
                <a16:creationId xmlns:a16="http://schemas.microsoft.com/office/drawing/2014/main" id="{4F6DD60C-FE40-496A-1F5D-83B9676D2DA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237566" y="915517"/>
            <a:ext cx="3921266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60" b="1" kern="0" dirty="0">
                <a:solidFill>
                  <a:srgbClr val="950055"/>
                </a:solidFill>
                <a:latin typeface="Consolas" panose="020B0609020204030204" pitchFamily="49" charset="0"/>
              </a:rPr>
              <a:t>import</a:t>
            </a:r>
            <a:r>
              <a:rPr lang="en-US" sz="1160" b="1" kern="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160" b="1" kern="0" dirty="0" err="1">
                <a:solidFill>
                  <a:srgbClr val="363636"/>
                </a:solidFill>
                <a:latin typeface="Consolas" panose="020B0609020204030204" pitchFamily="49" charset="0"/>
              </a:rPr>
              <a:t>io.jpostman.Environment</a:t>
            </a:r>
            <a:r>
              <a:rPr lang="en-US" sz="1160" b="1" kern="0" dirty="0">
                <a:solidFill>
                  <a:srgbClr val="363636"/>
                </a:solidFill>
                <a:latin typeface="Consolas" panose="020B0609020204030204" pitchFamily="49" charset="0"/>
              </a:rPr>
              <a:t>;</a:t>
            </a:r>
          </a:p>
        </p:txBody>
      </p:sp>
      <p:pic>
        <p:nvPicPr>
          <p:cNvPr id="9" name="9">
            <a:hlinkClick r:id="" action="ppaction://media"/>
            <a:extLst>
              <a:ext uri="{FF2B5EF4-FFF2-40B4-BE49-F238E27FC236}">
                <a16:creationId xmlns:a16="http://schemas.microsoft.com/office/drawing/2014/main" id="{5374A339-B727-7C5B-BBDD-A7A81BDD931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2649200" y="80899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8272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9000">
        <p159:morph option="byObject"/>
      </p:transition>
    </mc:Choice>
    <mc:Fallback xmlns="">
      <p:transition spd="slow" advClick="0" advTm="1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1050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1250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500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  <p:bldLst>
      <p:bldP spid="2" grpId="0" animBg="1"/>
      <p:bldP spid="10" grpId="0"/>
      <p:bldP spid="5" grpId="0"/>
      <p:bldP spid="6" grpId="0"/>
    </p:bldLst>
  </p:timing>
  <p:extLst>
    <p:ext uri="{E180D4A7-C9FB-4DFB-919C-405C955672EB}">
      <p14:showEvtLst xmlns:p14="http://schemas.microsoft.com/office/powerpoint/2010/main">
        <p14:playEvt time="1" objId="12"/>
        <p14:stopEvt time="15628" objId="12"/>
      </p14:showEvtLst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Screenshot1">
            <a:extLst>
              <a:ext uri="{FF2B5EF4-FFF2-40B4-BE49-F238E27FC236}">
                <a16:creationId xmlns:a16="http://schemas.microsoft.com/office/drawing/2014/main" id="{6A52F3B4-C051-3FD5-9B33-D0B1BAE8526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914400" y="-914400"/>
            <a:ext cx="14778990" cy="10424160"/>
          </a:xfrm>
          <a:prstGeom prst="rect">
            <a:avLst/>
          </a:prstGeom>
        </p:spPr>
      </p:pic>
      <p:sp>
        <p:nvSpPr>
          <p:cNvPr id="7" name="CaptionBackground">
            <a:extLst>
              <a:ext uri="{FF2B5EF4-FFF2-40B4-BE49-F238E27FC236}">
                <a16:creationId xmlns:a16="http://schemas.microsoft.com/office/drawing/2014/main" id="{BCF95610-BE99-4C97-4E03-866FC9EE7C2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61794" y="4662342"/>
            <a:ext cx="10429322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accent1"/>
              </a:solidFill>
            </a:endParaRPr>
          </a:p>
          <a:p>
            <a:endParaRPr lang="en-US" dirty="0">
              <a:solidFill>
                <a:schemeClr val="accent1"/>
              </a:solidFill>
            </a:endParaRPr>
          </a:p>
          <a:p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" name="Caption1">
            <a:extLst>
              <a:ext uri="{FF2B5EF4-FFF2-40B4-BE49-F238E27FC236}">
                <a16:creationId xmlns:a16="http://schemas.microsoft.com/office/drawing/2014/main" id="{19548457-A1F8-D46E-FED9-6907FC17A27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71319" y="4662342"/>
            <a:ext cx="10429322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After running the test with </a:t>
            </a:r>
            <a:r>
              <a:rPr lang="en-US" b="1" dirty="0">
                <a:solidFill>
                  <a:schemeClr val="accent1"/>
                </a:solidFill>
              </a:rPr>
              <a:t>Ctrl + F11</a:t>
            </a:r>
            <a:r>
              <a:rPr lang="en-US" dirty="0">
                <a:solidFill>
                  <a:schemeClr val="accent1"/>
                </a:solidFill>
              </a:rPr>
              <a:t>, we can see the environment values that will replace the placeholders in the request. Next, I will import the </a:t>
            </a:r>
            <a:r>
              <a:rPr lang="en-US" b="1" dirty="0" err="1">
                <a:solidFill>
                  <a:schemeClr val="accent1"/>
                </a:solidFill>
              </a:rPr>
              <a:t>RestAssuredExecutor</a:t>
            </a:r>
            <a:r>
              <a:rPr lang="en-US" dirty="0">
                <a:solidFill>
                  <a:schemeClr val="accent1"/>
                </a:solidFill>
              </a:rPr>
              <a:t> class, pass the environment object into the </a:t>
            </a:r>
            <a:r>
              <a:rPr lang="en-US" b="1" dirty="0">
                <a:solidFill>
                  <a:schemeClr val="accent1"/>
                </a:solidFill>
              </a:rPr>
              <a:t>build() </a:t>
            </a:r>
            <a:r>
              <a:rPr lang="en-US" dirty="0">
                <a:solidFill>
                  <a:schemeClr val="accent1"/>
                </a:solidFill>
              </a:rPr>
              <a:t>method, </a:t>
            </a:r>
            <a:r>
              <a:rPr lang="en-US" b="1" dirty="0">
                <a:solidFill>
                  <a:schemeClr val="accent1"/>
                </a:solidFill>
              </a:rPr>
              <a:t>execute</a:t>
            </a:r>
            <a:r>
              <a:rPr lang="en-US" dirty="0">
                <a:solidFill>
                  <a:schemeClr val="accent1"/>
                </a:solidFill>
              </a:rPr>
              <a:t> the request, and call </a:t>
            </a:r>
            <a:r>
              <a:rPr lang="en-US" b="1" dirty="0">
                <a:solidFill>
                  <a:schemeClr val="accent1"/>
                </a:solidFill>
              </a:rPr>
              <a:t>print() </a:t>
            </a:r>
            <a:r>
              <a:rPr lang="en-US" dirty="0">
                <a:solidFill>
                  <a:schemeClr val="accent1"/>
                </a:solidFill>
              </a:rPr>
              <a:t>to display the output.</a:t>
            </a:r>
          </a:p>
        </p:txBody>
      </p:sp>
      <p:sp>
        <p:nvSpPr>
          <p:cNvPr id="10" name="RestAssuredExecutor.execute">
            <a:extLst>
              <a:ext uri="{FF2B5EF4-FFF2-40B4-BE49-F238E27FC236}">
                <a16:creationId xmlns:a16="http://schemas.microsoft.com/office/drawing/2014/main" id="{06AB53FC-AA8E-644D-F96C-6A6EE694108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875492" y="4008756"/>
            <a:ext cx="6556051" cy="2708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60" b="1" kern="0" dirty="0" err="1">
                <a:solidFill>
                  <a:srgbClr val="363636"/>
                </a:solidFill>
                <a:latin typeface="Consolas" panose="020B0609020204030204" pitchFamily="49" charset="0"/>
              </a:rPr>
              <a:t>RestAssuredExecutor.execute</a:t>
            </a:r>
            <a:r>
              <a:rPr lang="en-US" sz="1160" b="1" kern="0" dirty="0">
                <a:solidFill>
                  <a:srgbClr val="363636"/>
                </a:solidFill>
                <a:latin typeface="Consolas" panose="020B0609020204030204" pitchFamily="49" charset="0"/>
              </a:rPr>
              <a:t>(</a:t>
            </a:r>
            <a:r>
              <a:rPr lang="en-US" sz="1160" b="1" kern="0" dirty="0" err="1">
                <a:solidFill>
                  <a:srgbClr val="363636"/>
                </a:solidFill>
                <a:latin typeface="Consolas" panose="020B0609020204030204" pitchFamily="49" charset="0"/>
              </a:rPr>
              <a:t>req.builder</a:t>
            </a:r>
            <a:r>
              <a:rPr lang="en-US" sz="1160" b="1" kern="0" dirty="0">
                <a:solidFill>
                  <a:srgbClr val="363636"/>
                </a:solidFill>
                <a:latin typeface="Consolas" panose="020B0609020204030204" pitchFamily="49" charset="0"/>
              </a:rPr>
              <a:t>().build(env)).print();</a:t>
            </a:r>
            <a:endParaRPr lang="en-US" sz="1160" b="1" kern="0" dirty="0">
              <a:solidFill>
                <a:srgbClr val="2A00FF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io.jpostman.restassured.RestAssuredExecutor">
            <a:extLst>
              <a:ext uri="{FF2B5EF4-FFF2-40B4-BE49-F238E27FC236}">
                <a16:creationId xmlns:a16="http://schemas.microsoft.com/office/drawing/2014/main" id="{4F6DD60C-FE40-496A-1F5D-83B9676D2DA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237565" y="1086967"/>
            <a:ext cx="4325159" cy="2708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60" b="1" kern="0" dirty="0">
                <a:solidFill>
                  <a:srgbClr val="950055"/>
                </a:solidFill>
                <a:latin typeface="Consolas" panose="020B0609020204030204" pitchFamily="49" charset="0"/>
              </a:rPr>
              <a:t>import</a:t>
            </a:r>
            <a:r>
              <a:rPr lang="en-US" sz="1160" b="1" kern="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160" b="1" kern="0" dirty="0" err="1">
                <a:solidFill>
                  <a:srgbClr val="363636"/>
                </a:solidFill>
                <a:latin typeface="Consolas" panose="020B0609020204030204" pitchFamily="49" charset="0"/>
              </a:rPr>
              <a:t>io.jpostman.restassured.RestAssuredExecutor</a:t>
            </a:r>
            <a:r>
              <a:rPr lang="en-US" sz="1160" b="1" kern="0" dirty="0">
                <a:solidFill>
                  <a:srgbClr val="363636"/>
                </a:solidFill>
                <a:latin typeface="Consolas" panose="020B0609020204030204" pitchFamily="49" charset="0"/>
              </a:rPr>
              <a:t>;</a:t>
            </a:r>
          </a:p>
        </p:txBody>
      </p:sp>
      <p:pic>
        <p:nvPicPr>
          <p:cNvPr id="17" name="10">
            <a:hlinkClick r:id="" action="ppaction://media"/>
            <a:extLst>
              <a:ext uri="{FF2B5EF4-FFF2-40B4-BE49-F238E27FC236}">
                <a16:creationId xmlns:a16="http://schemas.microsoft.com/office/drawing/2014/main" id="{252BD10F-63E2-E9FA-44FC-ED0A6CF4296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630237" y="5810756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7788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8000">
        <p159:morph option="byObject"/>
      </p:transition>
    </mc:Choice>
    <mc:Fallback xmlns="">
      <p:transition spd="slow" advClick="0" advTm="18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760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1110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1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</p:childTnLst>
        </p:cTn>
      </p:par>
    </p:tnLst>
    <p:bldLst>
      <p:bldP spid="2" grpId="0" animBg="1"/>
      <p:bldP spid="10" grpId="0"/>
      <p:bldP spid="6" grpId="0"/>
    </p:bldLst>
  </p:timing>
  <p:extLst>
    <p:ext uri="{E180D4A7-C9FB-4DFB-919C-405C955672EB}">
      <p14:showEvtLst xmlns:p14="http://schemas.microsoft.com/office/powerpoint/2010/main">
        <p14:playEvt time="1" objId="12"/>
        <p14:stopEvt time="15628" objId="12"/>
      </p14:showEvtLst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Screenshot2">
            <a:extLst>
              <a:ext uri="{FF2B5EF4-FFF2-40B4-BE49-F238E27FC236}">
                <a16:creationId xmlns:a16="http://schemas.microsoft.com/office/drawing/2014/main" id="{5D02BBA4-EF5B-1EB2-6B53-E5801CD2AD4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490" y="0"/>
            <a:ext cx="9723020" cy="6858000"/>
          </a:xfrm>
          <a:prstGeom prst="rect">
            <a:avLst/>
          </a:prstGeom>
        </p:spPr>
      </p:pic>
      <p:pic>
        <p:nvPicPr>
          <p:cNvPr id="5" name="Screenshot1">
            <a:extLst>
              <a:ext uri="{FF2B5EF4-FFF2-40B4-BE49-F238E27FC236}">
                <a16:creationId xmlns:a16="http://schemas.microsoft.com/office/drawing/2014/main" id="{53F08931-9030-D0C4-9EB9-002F81BAEE2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4490" y="0"/>
            <a:ext cx="9723020" cy="6858000"/>
          </a:xfrm>
          <a:prstGeom prst="rect">
            <a:avLst/>
          </a:prstGeom>
        </p:spPr>
      </p:pic>
      <p:sp>
        <p:nvSpPr>
          <p:cNvPr id="2" name="CaptionBackground">
            <a:extLst>
              <a:ext uri="{FF2B5EF4-FFF2-40B4-BE49-F238E27FC236}">
                <a16:creationId xmlns:a16="http://schemas.microsoft.com/office/drawing/2014/main" id="{19548457-A1F8-D46E-FED9-6907FC17A27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739788" y="5891002"/>
            <a:ext cx="9087355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accent1"/>
              </a:solidFill>
            </a:endParaRPr>
          </a:p>
          <a:p>
            <a:endParaRPr lang="en-US" dirty="0">
              <a:solidFill>
                <a:schemeClr val="accent1"/>
              </a:solidFill>
            </a:endParaRPr>
          </a:p>
          <a:p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4" name="Caption2">
            <a:extLst>
              <a:ext uri="{FF2B5EF4-FFF2-40B4-BE49-F238E27FC236}">
                <a16:creationId xmlns:a16="http://schemas.microsoft.com/office/drawing/2014/main" id="{2C24EE58-4E7A-58E0-B7A9-C2363D98AC5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729000" y="5896398"/>
            <a:ext cx="90873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accent1"/>
              </a:solidFill>
            </a:endParaRPr>
          </a:p>
          <a:p>
            <a:r>
              <a:rPr lang="en-US" dirty="0">
                <a:solidFill>
                  <a:schemeClr val="accent1"/>
                </a:solidFill>
              </a:rPr>
              <a:t>Excellent - we successfully executed our first </a:t>
            </a:r>
            <a:r>
              <a:rPr lang="en-US" b="1" dirty="0">
                <a:solidFill>
                  <a:schemeClr val="accent1"/>
                </a:solidFill>
              </a:rPr>
              <a:t>REST API </a:t>
            </a:r>
            <a:r>
              <a:rPr lang="en-US" dirty="0">
                <a:solidFill>
                  <a:schemeClr val="accent1"/>
                </a:solidFill>
              </a:rPr>
              <a:t>call and received a response from the server. In the next video, we will review chained requests.</a:t>
            </a:r>
          </a:p>
        </p:txBody>
      </p:sp>
      <p:sp>
        <p:nvSpPr>
          <p:cNvPr id="12" name="Caption1">
            <a:extLst>
              <a:ext uri="{FF2B5EF4-FFF2-40B4-BE49-F238E27FC236}">
                <a16:creationId xmlns:a16="http://schemas.microsoft.com/office/drawing/2014/main" id="{F1E56955-86E7-3F0F-FC98-5DEF421DAF1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730348" y="5897746"/>
            <a:ext cx="90873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Press </a:t>
            </a:r>
            <a:r>
              <a:rPr lang="en-US" b="1" dirty="0">
                <a:solidFill>
                  <a:schemeClr val="accent1"/>
                </a:solidFill>
              </a:rPr>
              <a:t>Ctrl + S </a:t>
            </a:r>
            <a:r>
              <a:rPr lang="en-US" dirty="0">
                <a:solidFill>
                  <a:schemeClr val="accent1"/>
                </a:solidFill>
              </a:rPr>
              <a:t>to save the file, then press </a:t>
            </a:r>
            <a:r>
              <a:rPr lang="en-US" b="1" dirty="0">
                <a:solidFill>
                  <a:schemeClr val="accent1"/>
                </a:solidFill>
              </a:rPr>
              <a:t>Ctrl + F11 </a:t>
            </a:r>
            <a:r>
              <a:rPr lang="en-US" dirty="0">
                <a:solidFill>
                  <a:schemeClr val="accent1"/>
                </a:solidFill>
              </a:rPr>
              <a:t>to run the last </a:t>
            </a:r>
            <a:r>
              <a:rPr lang="en-US" b="1" dirty="0">
                <a:solidFill>
                  <a:schemeClr val="accent1"/>
                </a:solidFill>
              </a:rPr>
              <a:t>TestNG Test </a:t>
            </a:r>
            <a:r>
              <a:rPr lang="en-US" dirty="0">
                <a:solidFill>
                  <a:schemeClr val="accent1"/>
                </a:solidFill>
              </a:rPr>
              <a:t>again.</a:t>
            </a:r>
          </a:p>
          <a:p>
            <a:endParaRPr lang="en-US" dirty="0">
              <a:solidFill>
                <a:schemeClr val="accent1"/>
              </a:solidFill>
            </a:endParaRPr>
          </a:p>
          <a:p>
            <a:r>
              <a:rPr lang="en-US" dirty="0">
                <a:solidFill>
                  <a:schemeClr val="accent1"/>
                </a:solidFill>
              </a:rPr>
              <a:t> </a:t>
            </a:r>
          </a:p>
        </p:txBody>
      </p:sp>
      <p:pic>
        <p:nvPicPr>
          <p:cNvPr id="13" name="11">
            <a:hlinkClick r:id="" action="ppaction://media"/>
            <a:extLst>
              <a:ext uri="{FF2B5EF4-FFF2-40B4-BE49-F238E27FC236}">
                <a16:creationId xmlns:a16="http://schemas.microsoft.com/office/drawing/2014/main" id="{B871C942-0ADE-D985-C265-F3DC12CC751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0039519" y="5139117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0963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8000">
        <p159:morph option="byObject"/>
      </p:transition>
    </mc:Choice>
    <mc:Fallback xmlns="">
      <p:transition spd="slow" advClick="0" advTm="18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0" presetClass="exit" presetSubtype="0" fill="hold" nodeType="withEffect">
                                  <p:stCondLst>
                                    <p:cond delay="8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800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1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  <p:bldLst>
      <p:bldP spid="14" grpId="0" animBg="1"/>
      <p:bldP spid="12" grpId="0" animBg="1"/>
    </p:bldLst>
  </p:timing>
  <p:extLst>
    <p:ext uri="{E180D4A7-C9FB-4DFB-919C-405C955672EB}">
      <p14:showEvtLst xmlns:p14="http://schemas.microsoft.com/office/powerpoint/2010/main">
        <p14:playEvt time="1" objId="12"/>
        <p14:stopEvt time="15628" objId="12"/>
      </p14:showEvtLst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creenshot1">
            <a:extLst>
              <a:ext uri="{FF2B5EF4-FFF2-40B4-BE49-F238E27FC236}">
                <a16:creationId xmlns:a16="http://schemas.microsoft.com/office/drawing/2014/main" id="{2A571EB1-3AE3-A511-DE37-8B648643D72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490" y="0"/>
            <a:ext cx="9723020" cy="6858000"/>
          </a:xfrm>
          <a:prstGeom prst="rect">
            <a:avLst/>
          </a:prstGeom>
        </p:spPr>
      </p:pic>
      <p:sp>
        <p:nvSpPr>
          <p:cNvPr id="2" name="CaptionBackground">
            <a:extLst>
              <a:ext uri="{FF2B5EF4-FFF2-40B4-BE49-F238E27FC236}">
                <a16:creationId xmlns:a16="http://schemas.microsoft.com/office/drawing/2014/main" id="{19548457-A1F8-D46E-FED9-6907FC17A27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739788" y="5615874"/>
            <a:ext cx="9087355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accent1"/>
              </a:solidFill>
            </a:endParaRPr>
          </a:p>
          <a:p>
            <a:endParaRPr lang="en-US" dirty="0">
              <a:solidFill>
                <a:schemeClr val="accent1"/>
              </a:solidFill>
            </a:endParaRPr>
          </a:p>
          <a:p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2" name="Caption1">
            <a:extLst>
              <a:ext uri="{FF2B5EF4-FFF2-40B4-BE49-F238E27FC236}">
                <a16:creationId xmlns:a16="http://schemas.microsoft.com/office/drawing/2014/main" id="{F1E56955-86E7-3F0F-FC98-5DEF421DAF1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730348" y="5622618"/>
            <a:ext cx="90873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Let’s compare the same request using </a:t>
            </a:r>
            <a:r>
              <a:rPr lang="en-US" b="1" dirty="0" err="1">
                <a:solidFill>
                  <a:schemeClr val="accent1"/>
                </a:solidFill>
              </a:rPr>
              <a:t>JPostman</a:t>
            </a:r>
            <a:r>
              <a:rPr lang="en-US" dirty="0">
                <a:solidFill>
                  <a:schemeClr val="accent1"/>
                </a:solidFill>
              </a:rPr>
              <a:t> and manual </a:t>
            </a:r>
            <a:r>
              <a:rPr lang="en-US" b="1" dirty="0" err="1">
                <a:solidFill>
                  <a:schemeClr val="accent1"/>
                </a:solidFill>
              </a:rPr>
              <a:t>RestAssured</a:t>
            </a:r>
            <a:r>
              <a:rPr lang="en-US" dirty="0">
                <a:solidFill>
                  <a:schemeClr val="accent1"/>
                </a:solidFill>
              </a:rPr>
              <a:t> code. </a:t>
            </a:r>
          </a:p>
          <a:p>
            <a:r>
              <a:rPr lang="en-US" dirty="0">
                <a:solidFill>
                  <a:schemeClr val="accent1"/>
                </a:solidFill>
              </a:rPr>
              <a:t>In the next tutorial, we will continue exploring more </a:t>
            </a:r>
            <a:r>
              <a:rPr lang="en-US" dirty="0" err="1">
                <a:solidFill>
                  <a:schemeClr val="accent1"/>
                </a:solidFill>
              </a:rPr>
              <a:t>JPostman</a:t>
            </a:r>
            <a:r>
              <a:rPr lang="en-US" dirty="0">
                <a:solidFill>
                  <a:schemeClr val="accent1"/>
                </a:solidFill>
              </a:rPr>
              <a:t> features. </a:t>
            </a:r>
          </a:p>
          <a:p>
            <a:r>
              <a:rPr lang="en-US" dirty="0">
                <a:solidFill>
                  <a:schemeClr val="accent1"/>
                </a:solidFill>
              </a:rPr>
              <a:t>Thank you for watching, and I’ll see you in the next tutorial.</a:t>
            </a:r>
          </a:p>
        </p:txBody>
      </p:sp>
      <p:pic>
        <p:nvPicPr>
          <p:cNvPr id="6" name="12">
            <a:hlinkClick r:id="" action="ppaction://media"/>
            <a:extLst>
              <a:ext uri="{FF2B5EF4-FFF2-40B4-BE49-F238E27FC236}">
                <a16:creationId xmlns:a16="http://schemas.microsoft.com/office/drawing/2014/main" id="{F9A597BC-7040-D6B5-2EFE-5E300ED0D14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9845310" y="4176165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8679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3000">
        <p159:morph option="byObject"/>
      </p:transition>
    </mc:Choice>
    <mc:Fallback xmlns="">
      <p:transition spd="slow" advClick="0" advTm="1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  <p:bldLst>
      <p:bldP spid="12" grpId="0"/>
    </p:bldLst>
  </p:timing>
  <p:extLst>
    <p:ext uri="{E180D4A7-C9FB-4DFB-919C-405C955672EB}">
      <p14:showEvtLst xmlns:p14="http://schemas.microsoft.com/office/powerpoint/2010/main">
        <p14:playEvt time="1" objId="12"/>
        <p14:stopEvt time="15628" objId="12"/>
      </p14:showEvtLst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4429</TotalTime>
  <Words>781</Words>
  <Application>Microsoft Office PowerPoint</Application>
  <PresentationFormat>Widescreen</PresentationFormat>
  <Paragraphs>56</Paragraphs>
  <Slides>12</Slides>
  <Notes>10</Notes>
  <HiddenSlides>0</HiddenSlides>
  <MMClips>12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Gofman</dc:creator>
  <cp:lastModifiedBy>David Gofman</cp:lastModifiedBy>
  <cp:revision>48</cp:revision>
  <dcterms:created xsi:type="dcterms:W3CDTF">2026-05-22T19:03:47Z</dcterms:created>
  <dcterms:modified xsi:type="dcterms:W3CDTF">2026-05-25T23:56:04Z</dcterms:modified>
</cp:coreProperties>
</file>