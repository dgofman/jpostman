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956271E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7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62174D-69C6-9ED2-6197-07020E891F12}" name="David Gofman" initials="DG" userId="5259373e58768a7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0FF"/>
    <a:srgbClr val="2A00FF"/>
    <a:srgbClr val="363636"/>
    <a:srgbClr val="0A53F6"/>
    <a:srgbClr val="070504"/>
    <a:srgbClr val="3F7F96"/>
    <a:srgbClr val="5F2EDA"/>
    <a:srgbClr val="6B6B6B"/>
    <a:srgbClr val="95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18" autoAdjust="0"/>
    <p:restoredTop sz="94660"/>
  </p:normalViewPr>
  <p:slideViewPr>
    <p:cSldViewPr snapToGrid="0">
      <p:cViewPr>
        <p:scale>
          <a:sx n="100" d="100"/>
          <a:sy n="100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2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omments/modernComment_100_956271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5B1845-E716-437D-BBF7-36E3E0428782}" authorId="{E862174D-69C6-9ED2-6197-07020E891F12}" created="2026-05-23T01:39:06.878">
    <pc:sldMkLst xmlns:pc="http://schemas.microsoft.com/office/powerpoint/2013/main/command">
      <pc:docMk/>
      <pc:sldMk cId="2506256871" sldId="256"/>
    </pc:sldMkLst>
    <p188:pos x="11668125" y="6026150"/>
    <p188:replyLst>
      <p188:reply id="{11257296-3FF7-4C28-BD1D-9EFEC095913C}" authorId="{E862174D-69C6-9ED2-6197-07020E891F12}" created="2026-05-23T01:43:47.735">
        <p188:txBody>
          <a:bodyPr/>
          <a:lstStyle/>
          <a:p>
            <a:r>
              <a:rPr lang="en-US"/>
              <a:t>Language: English (United States)
Voice: Derek Multilingual
Emotion: Empathetic
Vocal pitch: Default</a:t>
            </a:r>
          </a:p>
        </p188:txBody>
      </p188:reply>
    </p188:replyLst>
    <p188:txBody>
      <a:bodyPr/>
      <a:lstStyle/>
      <a:p>
        <a:r>
          <a:rPr lang="en-US"/>
          <a:t>https://app.clipchamp.com/consumer/editor/?feature=voiceover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23T01:43:27.356" authorId="{E862174D-69C6-9ED2-6197-07020E891F12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BD764-37BC-4840-BB41-74D4F927F79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7B6D0-CC60-4178-91F2-D40E75684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4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84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99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37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0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98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87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96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78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A561A6FC-F296-C2CD-3FA6-B17CA9042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461" y="38099"/>
            <a:ext cx="822960" cy="9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5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5B589D1F-61D3-4F24-B9B6-6B67D1CA8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461" y="38099"/>
            <a:ext cx="822960" cy="9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1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9316-D952-8024-D6FF-C5E6BAC6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03D3A-8E8B-D118-B1F7-BDED89C2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5045-5F31-80CE-3541-50F4996B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C2E8A-C004-C456-AC13-47C728E1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D5AEB-B128-88B1-D202-A3EB85A8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1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A3B0-A11E-E4F9-2858-5CA1C513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6C5F-B87E-1434-4ACD-976FB313D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01D77-E50A-7517-0C77-FC9769C1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1020F-566E-1CDA-5C08-4E4D6B3A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D9E70-19B0-78EC-8FB4-B133D45A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3A80-5180-A80B-240B-49DF854B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6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C55-B013-C811-2E7F-2499AE8E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2485B-357F-008A-01CF-6848CF3ED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6B05-8C17-0C30-9E59-53AEFB65E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E6024-19D3-49C9-FA47-F6FB67C33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19170-892F-B124-7F00-FB7534B1C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128CC-F5BD-48EA-0468-C70E9724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AFB47-B3DB-581D-61CC-972C47DA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68122-60E3-9485-9DCB-91F752CB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0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1912-974F-9CAE-3821-E2C62D85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3EBC5-F207-B92E-22FB-6E82BA1C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60B9E-F26F-EB1A-99AB-9EAA5DE7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8A50-7366-5030-CBEF-038429CE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5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EEBE9-F489-6D57-5B58-DC608C03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ED2E6-4626-8853-12CB-FA809685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349C4-4174-8D91-48B8-C20EF329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6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6E33-3702-CF5B-BF8D-2FBF8152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FFCE-6DE2-4E9F-153F-79C85F4C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7CD24-B6BB-478B-A24A-BACB97684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5D694-DD22-6353-F200-AEC674BA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FC588-A532-BE13-EF9D-5C27CB21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EFA5-516D-549B-CC1A-FB5215CE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5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DF34-EBDC-4133-CA71-8EDB8157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C745C-BE8B-5E35-B8AA-839781E94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7BCA5-0AE2-B306-869A-FFB0FCB99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148-6F79-FE03-10FE-6994F613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D249-7719-63CE-7C1F-719F50DD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CD3A3-B68D-5872-86B7-66DAE1A4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1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5852-9EF4-CF12-7E9C-D7743F42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885A-53E2-2EC8-F478-C85A3ACD0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94E2-A04B-E3F1-17CA-89717579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A53B2-40D4-7FCC-A27B-FD8E7FEA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A954-8032-9FC0-FF61-894DD9F1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2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32CC0-A58F-4F32-E4F7-C9E3095F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D1F56-103E-CD0F-2E02-3E25F7CEA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2EF4-EBE3-F2A9-1B96-3442F543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C04C-FD93-6CD7-61C0-958DC680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997E2-50BF-1618-682E-2255B4BC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4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DDD45-36A5-8419-C192-284685306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D22EE-7F8D-EAD3-1E79-BAF66CF6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DF98-D28D-17AC-CE27-584D1E9EA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A11A1-CC71-4413-B634-BC7EFB14F7B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E6CA-3B4F-64BE-8E91-6E2A969B6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6112-7988-E5F9-59AE-83A1ED4CD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18/10/relationships/comments" Target="../comments/modernComment_100_956271E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sv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sv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sv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svg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29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3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1.png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6" Type="http://schemas.openxmlformats.org/officeDocument/2006/relationships/image" Target="../media/image3.png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svg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6" Type="http://schemas.openxmlformats.org/officeDocument/2006/relationships/image" Target="../media/image3.png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8.png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3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notesSlide" Target="../notesSlides/notesSlid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6" Type="http://schemas.openxmlformats.org/officeDocument/2006/relationships/image" Target="../media/image3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1">
            <a:extLst>
              <a:ext uri="{FF2B5EF4-FFF2-40B4-BE49-F238E27FC236}">
                <a16:creationId xmlns:a16="http://schemas.microsoft.com/office/drawing/2014/main" id="{0BA32EDF-2C68-CEC9-D919-850AC1BF8F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76524" y="5478774"/>
            <a:ext cx="81438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 this part, we will go deeper into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and explore some important features. We will start with the Request object, which is </a:t>
            </a:r>
            <a:r>
              <a:rPr lang="en-US" b="1" dirty="0">
                <a:solidFill>
                  <a:schemeClr val="accent1"/>
                </a:solidFill>
              </a:rPr>
              <a:t>immutable</a:t>
            </a:r>
            <a:r>
              <a:rPr lang="en-US" dirty="0">
                <a:solidFill>
                  <a:schemeClr val="accent1"/>
                </a:solidFill>
              </a:rPr>
              <a:t>, meaning the original request loaded from the Postman collection cannot be changed directly.</a:t>
            </a:r>
          </a:p>
        </p:txBody>
      </p:sp>
      <p:pic>
        <p:nvPicPr>
          <p:cNvPr id="9" name="1">
            <a:hlinkClick r:id="" action="ppaction://media"/>
            <a:extLst>
              <a:ext uri="{FF2B5EF4-FFF2-40B4-BE49-F238E27FC236}">
                <a16:creationId xmlns:a16="http://schemas.microsoft.com/office/drawing/2014/main" id="{AEBCBBB5-FD3B-CC09-1FB0-B8E05ADA10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63325" y="60973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5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3000">
        <p:cut/>
      </p:transition>
    </mc:Choice>
    <mc:Fallback xmlns="">
      <p:transition advClick="0" advTm="13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  <p:ext uri="{6950BFC3-D8DA-4A85-94F7-54DA5524770B}">
      <p188:commentRel xmlns:p188="http://schemas.microsoft.com/office/powerpoint/2018/8/main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creenshot1">
            <a:extLst>
              <a:ext uri="{FF2B5EF4-FFF2-40B4-BE49-F238E27FC236}">
                <a16:creationId xmlns:a16="http://schemas.microsoft.com/office/drawing/2014/main" id="{81061DDD-CE05-84CB-F8DB-607A8A855B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8002" y="5924345"/>
            <a:ext cx="1007855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6397" y="5920076"/>
            <a:ext cx="1007855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Here we are using </a:t>
            </a:r>
            <a:r>
              <a:rPr lang="en-US" b="1" dirty="0" err="1">
                <a:solidFill>
                  <a:schemeClr val="accent1"/>
                </a:solidFill>
              </a:rPr>
              <a:t>req.builder</a:t>
            </a:r>
            <a:r>
              <a:rPr lang="en-US" b="1" dirty="0">
                <a:solidFill>
                  <a:schemeClr val="accent1"/>
                </a:solidFill>
              </a:rPr>
              <a:t>().build(env)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uses this </a:t>
            </a:r>
            <a:r>
              <a:rPr lang="en-US" b="1" dirty="0">
                <a:solidFill>
                  <a:schemeClr val="accent1"/>
                </a:solidFill>
              </a:rPr>
              <a:t>builder</a:t>
            </a:r>
            <a:r>
              <a:rPr lang="en-US" dirty="0">
                <a:solidFill>
                  <a:schemeClr val="accent1"/>
                </a:solidFill>
              </a:rPr>
              <a:t> call to create a resolved request with environment values applied. I will move this expression into a local variable so it is easier to inspect and debug.</a:t>
            </a:r>
          </a:p>
        </p:txBody>
      </p:sp>
      <p:pic>
        <p:nvPicPr>
          <p:cNvPr id="10" name="2">
            <a:hlinkClick r:id="" action="ppaction://media"/>
            <a:extLst>
              <a:ext uri="{FF2B5EF4-FFF2-40B4-BE49-F238E27FC236}">
                <a16:creationId xmlns:a16="http://schemas.microsoft.com/office/drawing/2014/main" id="{F0C68D59-A67F-1308-EA6F-3E12E52D3E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954000" y="841881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6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4000">
        <p159:morph option="byObject"/>
      </p:transition>
    </mc:Choice>
    <mc:Fallback xmlns=""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creenshot1">
            <a:extLst>
              <a:ext uri="{FF2B5EF4-FFF2-40B4-BE49-F238E27FC236}">
                <a16:creationId xmlns:a16="http://schemas.microsoft.com/office/drawing/2014/main" id="{88392625-E600-ECFA-7CD0-1C02A93590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-914400"/>
            <a:ext cx="14781053" cy="10425614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8003" y="5500743"/>
            <a:ext cx="1042506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6398" y="5506099"/>
            <a:ext cx="1042506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First, I will update the executor call to use a </a:t>
            </a:r>
            <a:r>
              <a:rPr lang="en-US" b="1" dirty="0">
                <a:solidFill>
                  <a:schemeClr val="accent1"/>
                </a:solidFill>
              </a:rPr>
              <a:t>new argument</a:t>
            </a:r>
            <a:r>
              <a:rPr lang="en-US" dirty="0">
                <a:solidFill>
                  <a:schemeClr val="accent1"/>
                </a:solidFill>
              </a:rPr>
              <a:t>. Instead of resolving the request inline, I will define a local variable named </a:t>
            </a:r>
            <a:r>
              <a:rPr lang="en-US" b="1" dirty="0" err="1">
                <a:solidFill>
                  <a:schemeClr val="accent1"/>
                </a:solidFill>
              </a:rPr>
              <a:t>resolvedRequest</a:t>
            </a:r>
            <a:r>
              <a:rPr lang="en-US" dirty="0">
                <a:solidFill>
                  <a:schemeClr val="accent1"/>
                </a:solidFill>
              </a:rPr>
              <a:t>. Then I will print both the </a:t>
            </a:r>
            <a:r>
              <a:rPr lang="en-US" b="1" dirty="0">
                <a:solidFill>
                  <a:schemeClr val="accent1"/>
                </a:solidFill>
              </a:rPr>
              <a:t>original</a:t>
            </a:r>
            <a:r>
              <a:rPr lang="en-US" dirty="0">
                <a:solidFill>
                  <a:schemeClr val="accent1"/>
                </a:solidFill>
              </a:rPr>
              <a:t> request and the </a:t>
            </a:r>
            <a:r>
              <a:rPr lang="en-US" b="1" dirty="0">
                <a:solidFill>
                  <a:schemeClr val="accent1"/>
                </a:solidFill>
              </a:rPr>
              <a:t>resolved</a:t>
            </a:r>
            <a:r>
              <a:rPr lang="en-US" dirty="0">
                <a:solidFill>
                  <a:schemeClr val="accent1"/>
                </a:solidFill>
              </a:rPr>
              <a:t> request so we can compare the body before and after placeholder resolution.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7" name="resolvedRequest.print();">
            <a:extLst>
              <a:ext uri="{FF2B5EF4-FFF2-40B4-BE49-F238E27FC236}">
                <a16:creationId xmlns:a16="http://schemas.microsoft.com/office/drawing/2014/main" id="{83911083-6101-68E0-CF57-4FE71D95E9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4043" y="3840278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resolvedRequest.print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q.print();">
            <a:extLst>
              <a:ext uri="{FF2B5EF4-FFF2-40B4-BE49-F238E27FC236}">
                <a16:creationId xmlns:a16="http://schemas.microsoft.com/office/drawing/2014/main" id="{35A3C2A0-0810-528B-AF6B-1F5C67D8AC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5155" y="3664485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req.print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q.builder().build(env)">
            <a:extLst>
              <a:ext uri="{FF2B5EF4-FFF2-40B4-BE49-F238E27FC236}">
                <a16:creationId xmlns:a16="http://schemas.microsoft.com/office/drawing/2014/main" id="{EE245FA3-13CE-7796-6A25-999F1A3950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9314" y="3495393"/>
            <a:ext cx="6556051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Request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resolvedRequest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 = </a:t>
            </a:r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req.builder</a:t>
            </a:r>
            <a:r>
              <a:rPr lang="en-US" sz="116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().build(env);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solvedRequest">
            <a:extLst>
              <a:ext uri="{FF2B5EF4-FFF2-40B4-BE49-F238E27FC236}">
                <a16:creationId xmlns:a16="http://schemas.microsoft.com/office/drawing/2014/main" id="{560CCAAD-CDEF-1EBE-F4BD-D93D6666C6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16101" y="4174958"/>
            <a:ext cx="1665699" cy="27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resolvedRequest</a:t>
            </a:r>
            <a:endParaRPr lang="en-US" sz="1160" b="1" kern="0" dirty="0">
              <a:solidFill>
                <a:srgbClr val="2A00FF"/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3">
            <a:hlinkClick r:id="" action="ppaction://media"/>
            <a:extLst>
              <a:ext uri="{FF2B5EF4-FFF2-40B4-BE49-F238E27FC236}">
                <a16:creationId xmlns:a16="http://schemas.microsoft.com/office/drawing/2014/main" id="{1A9547CA-6E59-FDFD-604A-9963EFE436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124046" y="6858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80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9000">
        <p159:morph option="byObject"/>
      </p:transition>
    </mc:Choice>
    <mc:Fallback xmlns="">
      <p:transition spd="slow" advClick="0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7" grpId="0" animBg="1"/>
      <p:bldP spid="17" grpId="0"/>
      <p:bldP spid="18" grpId="0"/>
      <p:bldP spid="15" grpId="0"/>
      <p:bldP spid="16" grpId="0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2">
            <a:extLst>
              <a:ext uri="{FF2B5EF4-FFF2-40B4-BE49-F238E27FC236}">
                <a16:creationId xmlns:a16="http://schemas.microsoft.com/office/drawing/2014/main" id="{D8A627C1-DAF4-DDB5-7FB4-27400D1F6E7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243" y="-914400"/>
            <a:ext cx="14778675" cy="10424160"/>
          </a:xfrm>
          <a:prstGeom prst="rect">
            <a:avLst/>
          </a:prstGeom>
        </p:spPr>
      </p:pic>
      <p:pic>
        <p:nvPicPr>
          <p:cNvPr id="4" name="Screenshot1">
            <a:extLst>
              <a:ext uri="{FF2B5EF4-FFF2-40B4-BE49-F238E27FC236}">
                <a16:creationId xmlns:a16="http://schemas.microsoft.com/office/drawing/2014/main" id="{FA696DF7-E533-D3A7-8B49-79DC23B9EF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243" y="-914400"/>
            <a:ext cx="14778675" cy="1042416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8003" y="5069007"/>
            <a:ext cx="10242184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6398" y="5931011"/>
            <a:ext cx="1024218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Now let’s run the code using </a:t>
            </a:r>
            <a:r>
              <a:rPr lang="en-US" b="1" dirty="0">
                <a:solidFill>
                  <a:schemeClr val="accent1"/>
                </a:solidFill>
              </a:rPr>
              <a:t>Ctrl + F11</a:t>
            </a:r>
            <a:r>
              <a:rPr lang="en-US" dirty="0">
                <a:solidFill>
                  <a:schemeClr val="accent1"/>
                </a:solidFill>
              </a:rPr>
              <a:t>. In the console output, we can see that the original request body remains unchanged and still contains unresolved placeholders. The resolved request, created with </a:t>
            </a:r>
            <a:r>
              <a:rPr lang="en-US" b="1" dirty="0">
                <a:solidFill>
                  <a:schemeClr val="accent1"/>
                </a:solidFill>
              </a:rPr>
              <a:t>build(env)</a:t>
            </a:r>
            <a:r>
              <a:rPr lang="en-US" dirty="0">
                <a:solidFill>
                  <a:schemeClr val="accent1"/>
                </a:solidFill>
              </a:rPr>
              <a:t>, replaces those placeholders with values from the Postman environment JSON file.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2" name="4">
            <a:hlinkClick r:id="" action="ppaction://media"/>
            <a:extLst>
              <a:ext uri="{FF2B5EF4-FFF2-40B4-BE49-F238E27FC236}">
                <a16:creationId xmlns:a16="http://schemas.microsoft.com/office/drawing/2014/main" id="{733E7C83-C1D3-6854-7464-E1EBF217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317129" y="76769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7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9000"/>
    </mc:Choice>
    <mc:Fallback xmlns="">
      <p:transition advClick="0" advTm="1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13472 L 2.08333E-7 -0.3847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97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13472 L 2.08333E-7 -0.3847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97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2" grpId="0" animBg="1"/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creenshot1">
            <a:extLst>
              <a:ext uri="{FF2B5EF4-FFF2-40B4-BE49-F238E27FC236}">
                <a16:creationId xmlns:a16="http://schemas.microsoft.com/office/drawing/2014/main" id="{88392625-E600-ECFA-7CD0-1C02A93590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81052" cy="10425614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8003" y="5500743"/>
            <a:ext cx="1042506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6398" y="5506099"/>
            <a:ext cx="1042506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Let’s review other </a:t>
            </a:r>
            <a:r>
              <a:rPr lang="en-US" b="1" dirty="0">
                <a:solidFill>
                  <a:schemeClr val="accent1"/>
                </a:solidFill>
              </a:rPr>
              <a:t>Request</a:t>
            </a:r>
            <a:r>
              <a:rPr lang="en-US" dirty="0">
                <a:solidFill>
                  <a:schemeClr val="accent1"/>
                </a:solidFill>
              </a:rPr>
              <a:t> builder methods. We can manually customize the </a:t>
            </a:r>
            <a:r>
              <a:rPr lang="en-US" b="1" dirty="0" err="1">
                <a:solidFill>
                  <a:schemeClr val="accent1"/>
                </a:solidFill>
              </a:rPr>
              <a:t>url</a:t>
            </a:r>
            <a:r>
              <a:rPr lang="en-US" b="1" dirty="0">
                <a:solidFill>
                  <a:schemeClr val="accent1"/>
                </a:solidFill>
              </a:rPr>
              <a:t>()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b="1" dirty="0">
                <a:solidFill>
                  <a:schemeClr val="accent1"/>
                </a:solidFill>
              </a:rPr>
              <a:t> headers()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auth() </a:t>
            </a:r>
            <a:r>
              <a:rPr lang="en-US" dirty="0">
                <a:solidFill>
                  <a:schemeClr val="accent1"/>
                </a:solidFill>
              </a:rPr>
              <a:t>and </a:t>
            </a:r>
            <a:r>
              <a:rPr lang="en-US" b="1" dirty="0">
                <a:solidFill>
                  <a:schemeClr val="accent1"/>
                </a:solidFill>
              </a:rPr>
              <a:t>body()</a:t>
            </a:r>
            <a:r>
              <a:rPr lang="en-US" dirty="0">
                <a:solidFill>
                  <a:schemeClr val="accent1"/>
                </a:solidFill>
              </a:rPr>
              <a:t>. For each parameter step, we can use methods such as </a:t>
            </a:r>
            <a:r>
              <a:rPr lang="en-US" b="1" dirty="0">
                <a:solidFill>
                  <a:schemeClr val="accent1"/>
                </a:solidFill>
              </a:rPr>
              <a:t>add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set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map</a:t>
            </a:r>
            <a:r>
              <a:rPr lang="en-US" dirty="0">
                <a:solidFill>
                  <a:schemeClr val="accent1"/>
                </a:solidFill>
              </a:rPr>
              <a:t>, or </a:t>
            </a:r>
            <a:r>
              <a:rPr lang="en-US" b="1" dirty="0" err="1">
                <a:solidFill>
                  <a:schemeClr val="accent1"/>
                </a:solidFill>
              </a:rPr>
              <a:t>json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end</a:t>
            </a:r>
            <a:r>
              <a:rPr lang="en-US" dirty="0">
                <a:solidFill>
                  <a:schemeClr val="accent1"/>
                </a:solidFill>
              </a:rPr>
              <a:t> resolvers. Finally, we call </a:t>
            </a:r>
            <a:r>
              <a:rPr lang="en-US" b="1" dirty="0">
                <a:solidFill>
                  <a:schemeClr val="accent1"/>
                </a:solidFill>
              </a:rPr>
              <a:t>build() </a:t>
            </a:r>
            <a:r>
              <a:rPr lang="en-US" dirty="0">
                <a:solidFill>
                  <a:schemeClr val="accent1"/>
                </a:solidFill>
              </a:rPr>
              <a:t>to create a new resolved </a:t>
            </a:r>
            <a:r>
              <a:rPr lang="en-US" b="1" dirty="0">
                <a:solidFill>
                  <a:schemeClr val="accent1"/>
                </a:solidFill>
              </a:rPr>
              <a:t>Request</a:t>
            </a:r>
            <a:r>
              <a:rPr lang="en-US" dirty="0">
                <a:solidFill>
                  <a:schemeClr val="accent1"/>
                </a:solidFill>
              </a:rPr>
              <a:t> object with all changes applied.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.url.body.build">
            <a:extLst>
              <a:ext uri="{FF2B5EF4-FFF2-40B4-BE49-F238E27FC236}">
                <a16:creationId xmlns:a16="http://schemas.microsoft.com/office/drawing/2014/main" id="{95D1CA0D-66A2-31F5-7A5D-C61E8DC036F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96660" y="3662823"/>
            <a:ext cx="953635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.</a:t>
            </a:r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url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    .add(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q", "</a:t>
            </a:r>
            <a:r>
              <a:rPr lang="en-US" sz="1140" kern="0" spc="10" dirty="0" err="1">
                <a:solidFill>
                  <a:srgbClr val="0A53F6"/>
                </a:solidFill>
                <a:latin typeface="Consolas" panose="020B0609020204030204" pitchFamily="49" charset="0"/>
              </a:rPr>
              <a:t>hello+world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"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                 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Add q as a URL query parameter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    .map(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"</a:t>
            </a:r>
            <a:r>
              <a:rPr lang="en-US" sz="1140" kern="0" spc="10" dirty="0" err="1">
                <a:solidFill>
                  <a:srgbClr val="0A53F6"/>
                </a:solidFill>
                <a:latin typeface="Consolas" panose="020B0609020204030204" pitchFamily="49" charset="0"/>
              </a:rPr>
              <a:t>base_url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", "https://example.com"</a:t>
            </a:r>
            <a:r>
              <a:rPr lang="en-US" sz="1140" kern="0" spc="10" dirty="0">
                <a:solidFill>
                  <a:srgbClr val="070504"/>
                </a:solidFill>
                <a:latin typeface="Consolas" panose="020B0609020204030204" pitchFamily="49" charset="0"/>
              </a:rPr>
              <a:t>)  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Replace {{</a:t>
            </a:r>
            <a:r>
              <a:rPr lang="en-US" sz="1140" kern="0" spc="1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base_url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}} in the request URL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.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body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    .set(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"username", "</a:t>
            </a:r>
            <a:r>
              <a:rPr lang="en-US" sz="1140" kern="0" spc="10" dirty="0" err="1">
                <a:solidFill>
                  <a:srgbClr val="0A53F6"/>
                </a:solidFill>
                <a:latin typeface="Consolas" panose="020B0609020204030204" pitchFamily="49" charset="0"/>
              </a:rPr>
              <a:t>sam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"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                  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Replace the existing username field in the request body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    .add(</a:t>
            </a:r>
            <a:r>
              <a:rPr lang="en-US" sz="1140" kern="0" spc="10" dirty="0">
                <a:solidFill>
                  <a:srgbClr val="0A53F6"/>
                </a:solidFill>
                <a:latin typeface="Consolas" panose="020B0609020204030204" pitchFamily="49" charset="0"/>
              </a:rPr>
              <a:t>"age"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, 21)                          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Add a new age field to the request body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    .end(</a:t>
            </a:r>
            <a:r>
              <a:rPr lang="en-US" sz="1140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env.getParams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())                    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Resolve any remaining body placeholders from the environment</a:t>
            </a:r>
          </a:p>
          <a:p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.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build</a:t>
            </a:r>
            <a:r>
              <a:rPr lang="en-US" sz="1140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();                                    </a:t>
            </a:r>
            <a:r>
              <a:rPr lang="en-US" sz="1140" kern="0" spc="1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Create the resolved Request object</a:t>
            </a:r>
          </a:p>
        </p:txBody>
      </p:sp>
      <p:pic>
        <p:nvPicPr>
          <p:cNvPr id="6" name="5">
            <a:hlinkClick r:id="" action="ppaction://media"/>
            <a:extLst>
              <a:ext uri="{FF2B5EF4-FFF2-40B4-BE49-F238E27FC236}">
                <a16:creationId xmlns:a16="http://schemas.microsoft.com/office/drawing/2014/main" id="{C64F4664-AEC3-941E-79E6-0711F80CA6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91462" y="53528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50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 animBg="1"/>
      <p:bldP spid="4" grpId="0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shot1">
            <a:extLst>
              <a:ext uri="{FF2B5EF4-FFF2-40B4-BE49-F238E27FC236}">
                <a16:creationId xmlns:a16="http://schemas.microsoft.com/office/drawing/2014/main" id="{FA696DF7-E533-D3A7-8B49-79DC23B9EF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0" y="5945307"/>
            <a:ext cx="1089098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7595" y="5931011"/>
            <a:ext cx="1089098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 a result of the execution, we can see that the request values were updated. The </a:t>
            </a:r>
            <a:r>
              <a:rPr lang="en-US" b="1" dirty="0">
                <a:solidFill>
                  <a:schemeClr val="accent1"/>
                </a:solidFill>
              </a:rPr>
              <a:t>URL</a:t>
            </a:r>
            <a:r>
              <a:rPr lang="en-US" dirty="0">
                <a:solidFill>
                  <a:schemeClr val="accent1"/>
                </a:solidFill>
              </a:rPr>
              <a:t> now uses the mapped </a:t>
            </a:r>
            <a:r>
              <a:rPr lang="en-US" b="1" dirty="0" err="1">
                <a:solidFill>
                  <a:schemeClr val="accent1"/>
                </a:solidFill>
              </a:rPr>
              <a:t>base_url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placeholder, the </a:t>
            </a:r>
            <a:r>
              <a:rPr lang="en-US" b="1" dirty="0">
                <a:solidFill>
                  <a:schemeClr val="accent1"/>
                </a:solidFill>
              </a:rPr>
              <a:t>query</a:t>
            </a:r>
            <a:r>
              <a:rPr lang="en-US" dirty="0">
                <a:solidFill>
                  <a:schemeClr val="accent1"/>
                </a:solidFill>
              </a:rPr>
              <a:t> parameter was added, the </a:t>
            </a:r>
            <a:r>
              <a:rPr lang="en-US" b="1" dirty="0">
                <a:solidFill>
                  <a:schemeClr val="accent1"/>
                </a:solidFill>
              </a:rPr>
              <a:t>username</a:t>
            </a:r>
            <a:r>
              <a:rPr lang="en-US" dirty="0">
                <a:solidFill>
                  <a:schemeClr val="accent1"/>
                </a:solidFill>
              </a:rPr>
              <a:t> value was replaced, and the new </a:t>
            </a:r>
            <a:r>
              <a:rPr lang="en-US" b="1" dirty="0">
                <a:solidFill>
                  <a:schemeClr val="accent1"/>
                </a:solidFill>
              </a:rPr>
              <a:t>age</a:t>
            </a:r>
            <a:r>
              <a:rPr lang="en-US" dirty="0">
                <a:solidFill>
                  <a:schemeClr val="accent1"/>
                </a:solidFill>
              </a:rPr>
              <a:t> field was applied. The </a:t>
            </a:r>
            <a:r>
              <a:rPr lang="en-US" b="1" dirty="0">
                <a:solidFill>
                  <a:schemeClr val="accent1"/>
                </a:solidFill>
              </a:rPr>
              <a:t>password</a:t>
            </a:r>
            <a:r>
              <a:rPr lang="en-US" dirty="0">
                <a:solidFill>
                  <a:schemeClr val="accent1"/>
                </a:solidFill>
              </a:rPr>
              <a:t> placeholder was replaced with the value from the </a:t>
            </a:r>
            <a:r>
              <a:rPr lang="en-US" b="1" dirty="0">
                <a:solidFill>
                  <a:schemeClr val="accent1"/>
                </a:solidFill>
              </a:rPr>
              <a:t>environment</a:t>
            </a:r>
            <a:r>
              <a:rPr lang="en-US" dirty="0">
                <a:solidFill>
                  <a:schemeClr val="accent1"/>
                </a:solidFill>
              </a:rPr>
              <a:t> JSON file.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3" name="6">
            <a:hlinkClick r:id="" action="ppaction://media"/>
            <a:extLst>
              <a:ext uri="{FF2B5EF4-FFF2-40B4-BE49-F238E27FC236}">
                <a16:creationId xmlns:a16="http://schemas.microsoft.com/office/drawing/2014/main" id="{587C59F1-0D06-07BB-C132-0FC4359DFF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76183" y="53738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2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9000">
        <p:fade/>
      </p:transition>
    </mc:Choice>
    <mc:Fallback xmlns="">
      <p:transition spd="med" advClick="0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20857 L 0.00013 -0.4585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1">
            <a:extLst>
              <a:ext uri="{FF2B5EF4-FFF2-40B4-BE49-F238E27FC236}">
                <a16:creationId xmlns:a16="http://schemas.microsoft.com/office/drawing/2014/main" id="{260F1BBA-2028-23B5-0648-607E72957D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4490" y="0"/>
            <a:ext cx="9723020" cy="685799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0665" y="5913493"/>
            <a:ext cx="86005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9060" y="5918849"/>
            <a:ext cx="86005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Even though </a:t>
            </a:r>
            <a:r>
              <a:rPr lang="en-US" b="1" dirty="0">
                <a:solidFill>
                  <a:schemeClr val="accent1"/>
                </a:solidFill>
              </a:rPr>
              <a:t>TestNG</a:t>
            </a:r>
            <a:r>
              <a:rPr lang="en-US" dirty="0">
                <a:solidFill>
                  <a:schemeClr val="accent1"/>
                </a:solidFill>
              </a:rPr>
              <a:t> shows the test as passed, the API response returned status code 405, which means HTTP </a:t>
            </a:r>
            <a:r>
              <a:rPr lang="en-US" b="1" dirty="0">
                <a:solidFill>
                  <a:schemeClr val="accent1"/>
                </a:solidFill>
              </a:rPr>
              <a:t>Method Not Allowed</a:t>
            </a:r>
            <a:r>
              <a:rPr lang="en-US" dirty="0">
                <a:solidFill>
                  <a:schemeClr val="accent1"/>
                </a:solidFill>
              </a:rPr>
              <a:t>. To properly validate the API result, we need to add an assertion that verifies the expected status code.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9" name="7">
            <a:hlinkClick r:id="" action="ppaction://media"/>
            <a:extLst>
              <a:ext uri="{FF2B5EF4-FFF2-40B4-BE49-F238E27FC236}">
                <a16:creationId xmlns:a16="http://schemas.microsoft.com/office/drawing/2014/main" id="{3A1D743D-94BA-5173-5554-EEFBE2040A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82480" y="57465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8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shot1">
            <a:extLst>
              <a:ext uri="{FF2B5EF4-FFF2-40B4-BE49-F238E27FC236}">
                <a16:creationId xmlns:a16="http://schemas.microsoft.com/office/drawing/2014/main" id="{CFC40A24-7669-F5C5-346F-D62A3A81BD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0665" y="5965886"/>
            <a:ext cx="86005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9060" y="5966479"/>
            <a:ext cx="86005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 will remove the inline </a:t>
            </a:r>
            <a:r>
              <a:rPr lang="en-US" b="1" dirty="0">
                <a:solidFill>
                  <a:schemeClr val="accent1"/>
                </a:solidFill>
              </a:rPr>
              <a:t>print() </a:t>
            </a:r>
            <a:r>
              <a:rPr lang="en-US" dirty="0">
                <a:solidFill>
                  <a:schemeClr val="accent1"/>
                </a:solidFill>
              </a:rPr>
              <a:t>call and store the execution result in a local response variable. Then I will import </a:t>
            </a:r>
            <a:r>
              <a:rPr lang="en-US" b="1" dirty="0" err="1">
                <a:solidFill>
                  <a:schemeClr val="accent1"/>
                </a:solidFill>
              </a:rPr>
              <a:t>ApiResponse</a:t>
            </a:r>
            <a:r>
              <a:rPr lang="en-US" dirty="0">
                <a:solidFill>
                  <a:schemeClr val="accent1"/>
                </a:solidFill>
              </a:rPr>
              <a:t> from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and add a </a:t>
            </a:r>
            <a:r>
              <a:rPr lang="en-US" b="1" dirty="0">
                <a:solidFill>
                  <a:schemeClr val="accent1"/>
                </a:solidFill>
              </a:rPr>
              <a:t>static</a:t>
            </a:r>
            <a:r>
              <a:rPr lang="en-US" dirty="0">
                <a:solidFill>
                  <a:schemeClr val="accent1"/>
                </a:solidFill>
              </a:rPr>
              <a:t> import for TestNG </a:t>
            </a:r>
            <a:r>
              <a:rPr lang="en-US" b="1" dirty="0" err="1">
                <a:solidFill>
                  <a:schemeClr val="accent1"/>
                </a:solidFill>
              </a:rPr>
              <a:t>assertEquals</a:t>
            </a:r>
            <a:r>
              <a:rPr lang="en-US" dirty="0">
                <a:solidFill>
                  <a:schemeClr val="accent1"/>
                </a:solidFill>
              </a:rPr>
              <a:t>. Finally, I will assert that the response status code is </a:t>
            </a:r>
            <a:r>
              <a:rPr lang="en-US" b="1" dirty="0">
                <a:solidFill>
                  <a:schemeClr val="accent1"/>
                </a:solidFill>
              </a:rPr>
              <a:t>200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0" name="RestAssuredExecutor.execute">
            <a:extLst>
              <a:ext uri="{FF2B5EF4-FFF2-40B4-BE49-F238E27FC236}">
                <a16:creationId xmlns:a16="http://schemas.microsoft.com/office/drawing/2014/main" id="{99F09AD4-AECB-4A97-B98F-A5B7B3C74E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1826" y="5542713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RestAssuredExecutor.execute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resolvedRequest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.print()">
            <a:extLst>
              <a:ext uri="{FF2B5EF4-FFF2-40B4-BE49-F238E27FC236}">
                <a16:creationId xmlns:a16="http://schemas.microsoft.com/office/drawing/2014/main" id="{D4B1EF3A-58E4-4E5B-5D96-F0A214845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6950" y="5540800"/>
            <a:ext cx="9536359" cy="267766"/>
          </a:xfrm>
          <a:prstGeom prst="rect">
            <a:avLst/>
          </a:prstGeom>
          <a:solidFill>
            <a:schemeClr val="bg1"/>
          </a:solidFill>
        </p:spPr>
        <p:txBody>
          <a:bodyPr wrap="square" lIns="0" rtlCol="0">
            <a:spAutoFit/>
          </a:bodyPr>
          <a:lstStyle/>
          <a:p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.print();</a:t>
            </a:r>
          </a:p>
        </p:txBody>
      </p:sp>
      <p:sp>
        <p:nvSpPr>
          <p:cNvPr id="12" name="ApiResponse res">
            <a:extLst>
              <a:ext uri="{FF2B5EF4-FFF2-40B4-BE49-F238E27FC236}">
                <a16:creationId xmlns:a16="http://schemas.microsoft.com/office/drawing/2014/main" id="{F2ED00C8-79B5-4F26-9969-D1F9265384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6582" y="5542703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ApiResponse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 res =</a:t>
            </a:r>
          </a:p>
        </p:txBody>
      </p:sp>
      <p:sp>
        <p:nvSpPr>
          <p:cNvPr id="13" name="import ApiResponse">
            <a:extLst>
              <a:ext uri="{FF2B5EF4-FFF2-40B4-BE49-F238E27FC236}">
                <a16:creationId xmlns:a16="http://schemas.microsoft.com/office/drawing/2014/main" id="{C45CF280-A99B-81A9-8BD3-FDF6A50C2A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54224" y="1267940"/>
            <a:ext cx="392126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</a:t>
            </a:r>
            <a:r>
              <a:rPr lang="en-US" sz="1150" b="1" kern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15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io.jpostman.ApiResponse</a:t>
            </a:r>
            <a:r>
              <a:rPr lang="en-US" sz="115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import assertEquals">
            <a:extLst>
              <a:ext uri="{FF2B5EF4-FFF2-40B4-BE49-F238E27FC236}">
                <a16:creationId xmlns:a16="http://schemas.microsoft.com/office/drawing/2014/main" id="{12531CCF-D5EF-02F1-9B31-DB5531EC56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54222" y="1437011"/>
            <a:ext cx="392126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 static</a:t>
            </a:r>
            <a:r>
              <a:rPr lang="en-US" sz="1150" b="1" kern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15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org.testng.Assert.assertEquals</a:t>
            </a:r>
            <a:r>
              <a:rPr lang="en-US" sz="115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assertEquals">
            <a:extLst>
              <a:ext uri="{FF2B5EF4-FFF2-40B4-BE49-F238E27FC236}">
                <a16:creationId xmlns:a16="http://schemas.microsoft.com/office/drawing/2014/main" id="{1CC14A97-75F1-04A3-E8BE-A13E709580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06107" y="5723678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assertEquals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res.statusCode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(), 200, </a:t>
            </a:r>
            <a:r>
              <a:rPr lang="en-US" sz="1140" b="1" kern="0" spc="10" dirty="0">
                <a:solidFill>
                  <a:srgbClr val="1800FF"/>
                </a:solidFill>
                <a:latin typeface="Consolas" panose="020B0609020204030204" pitchFamily="49" charset="0"/>
              </a:rPr>
              <a:t>"Body Result: " 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+ </a:t>
            </a:r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res.pretty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 + </a:t>
            </a:r>
            <a:r>
              <a:rPr lang="en-US" sz="1140" b="1" kern="0" spc="10" dirty="0">
                <a:solidFill>
                  <a:srgbClr val="1800FF"/>
                </a:solidFill>
                <a:latin typeface="Consolas" panose="020B0609020204030204" pitchFamily="49" charset="0"/>
              </a:rPr>
              <a:t>"\n"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18" name="8">
            <a:hlinkClick r:id="" action="ppaction://media"/>
            <a:extLst>
              <a:ext uri="{FF2B5EF4-FFF2-40B4-BE49-F238E27FC236}">
                <a16:creationId xmlns:a16="http://schemas.microsoft.com/office/drawing/2014/main" id="{E6645A3E-732F-7B84-4AC5-5D3155DD84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673108" y="56866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4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6000">
        <p159:morph option="byObject"/>
      </p:transition>
    </mc:Choice>
    <mc:Fallback xmlns=""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xit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3" presetClass="pat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0.02969 -0.00139 L 0.1194 -0.00024 " pathEditMode="relative" rAng="0" ptsTypes="AA">
                                      <p:cBhvr>
                                        <p:cTn id="13" dur="1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48" y="4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7" grpId="0" animBg="1"/>
      <p:bldP spid="10" grpId="0"/>
      <p:bldP spid="11" grpId="0" animBg="1"/>
      <p:bldP spid="12" grpId="0"/>
      <p:bldP spid="13" grpId="0"/>
      <p:bldP spid="14" grpId="0"/>
      <p:bldP spid="17" grpId="0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1">
            <a:extLst>
              <a:ext uri="{FF2B5EF4-FFF2-40B4-BE49-F238E27FC236}">
                <a16:creationId xmlns:a16="http://schemas.microsoft.com/office/drawing/2014/main" id="{4FCE937C-36C3-F029-CE17-6801018486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4490" y="0"/>
            <a:ext cx="9723020" cy="685799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1029" y="4765736"/>
            <a:ext cx="77501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9424" y="4766329"/>
            <a:ext cx="77501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test now fails correctly when the status code is wrong, and the assertion message includes the server response for debugging.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6" name="9">
            <a:hlinkClick r:id="" action="ppaction://media"/>
            <a:extLst>
              <a:ext uri="{FF2B5EF4-FFF2-40B4-BE49-F238E27FC236}">
                <a16:creationId xmlns:a16="http://schemas.microsoft.com/office/drawing/2014/main" id="{2E531788-30CE-B8D7-120C-0649318221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49025" y="59531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6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7000">
        <p159:morph option="byObject"/>
      </p:transition>
    </mc:Choice>
    <mc:Fallback xmlns=""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creenshot2">
            <a:extLst>
              <a:ext uri="{FF2B5EF4-FFF2-40B4-BE49-F238E27FC236}">
                <a16:creationId xmlns:a16="http://schemas.microsoft.com/office/drawing/2014/main" id="{0ED4FF44-BD90-2E49-AE48-A6BB8B2C8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4" name="Screenshot1">
            <a:extLst>
              <a:ext uri="{FF2B5EF4-FFF2-40B4-BE49-F238E27FC236}">
                <a16:creationId xmlns:a16="http://schemas.microsoft.com/office/drawing/2014/main" id="{0A685352-3276-8433-1EB4-80818E3EE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1029" y="4489511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/>
          </p:cNvSpPr>
          <p:nvPr/>
        </p:nvSpPr>
        <p:spPr>
          <a:xfrm>
            <a:off x="3019424" y="4490104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 removed the hardcoded request customizations and cleaned up the code. Now let’s run the test one more time. The </a:t>
            </a:r>
            <a:r>
              <a:rPr lang="en-US" b="1" dirty="0">
                <a:solidFill>
                  <a:schemeClr val="accent1"/>
                </a:solidFill>
              </a:rPr>
              <a:t>TestNG</a:t>
            </a:r>
            <a:r>
              <a:rPr lang="en-US" dirty="0">
                <a:solidFill>
                  <a:schemeClr val="accent1"/>
                </a:solidFill>
              </a:rPr>
              <a:t> result is passed, which confirms that the REST API server returned status code </a:t>
            </a:r>
            <a:r>
              <a:rPr lang="en-US" b="1" dirty="0">
                <a:solidFill>
                  <a:schemeClr val="accent1"/>
                </a:solidFill>
              </a:rPr>
              <a:t>200</a:t>
            </a:r>
            <a:r>
              <a:rPr lang="en-US" dirty="0">
                <a:solidFill>
                  <a:schemeClr val="accent1"/>
                </a:solidFill>
              </a:rPr>
              <a:t> as expected.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0" name="10">
            <a:hlinkClick r:id="" action="ppaction://media"/>
            <a:extLst>
              <a:ext uri="{FF2B5EF4-FFF2-40B4-BE49-F238E27FC236}">
                <a16:creationId xmlns:a16="http://schemas.microsoft.com/office/drawing/2014/main" id="{DE8A1E0A-DA17-3C3D-E0F8-53A3DEAC0B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53800" y="61245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06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creenshot1">
            <a:extLst>
              <a:ext uri="{FF2B5EF4-FFF2-40B4-BE49-F238E27FC236}">
                <a16:creationId xmlns:a16="http://schemas.microsoft.com/office/drawing/2014/main" id="{F23542D2-C0E5-DFB6-DF16-6C0D9979E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1029" y="4489511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9424" y="4490104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Before selecting another request, I will create a local reference to the Postman collection. This makes the code cleaner because I can reuse the same Collection variable for multiple </a:t>
            </a:r>
            <a:r>
              <a:rPr lang="en-US" b="1" dirty="0" err="1">
                <a:solidFill>
                  <a:schemeClr val="accent1"/>
                </a:solidFill>
              </a:rPr>
              <a:t>getRequest</a:t>
            </a:r>
            <a:r>
              <a:rPr lang="en-US" b="1" dirty="0">
                <a:solidFill>
                  <a:schemeClr val="accent1"/>
                </a:solidFill>
              </a:rPr>
              <a:t>() </a:t>
            </a:r>
            <a:r>
              <a:rPr lang="en-US" dirty="0">
                <a:solidFill>
                  <a:schemeClr val="accent1"/>
                </a:solidFill>
              </a:rPr>
              <a:t>calls.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3" name="11">
            <a:hlinkClick r:id="" action="ppaction://media"/>
            <a:extLst>
              <a:ext uri="{FF2B5EF4-FFF2-40B4-BE49-F238E27FC236}">
                <a16:creationId xmlns:a16="http://schemas.microsoft.com/office/drawing/2014/main" id="{B5118ADA-3697-478D-26EE-1FC8625F3F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91900" y="60198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29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6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shot1">
            <a:extLst>
              <a:ext uri="{FF2B5EF4-FFF2-40B4-BE49-F238E27FC236}">
                <a16:creationId xmlns:a16="http://schemas.microsoft.com/office/drawing/2014/main" id="{6B4CD0DA-1F23-6C1F-6CA1-FAEBF5017E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1029" y="4489511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9424" y="4490104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 will import the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Collection</a:t>
            </a:r>
            <a:r>
              <a:rPr lang="en-US" dirty="0">
                <a:solidFill>
                  <a:schemeClr val="accent1"/>
                </a:solidFill>
              </a:rPr>
              <a:t> class and create a local variable named </a:t>
            </a:r>
            <a:r>
              <a:rPr lang="en-US" b="1" dirty="0">
                <a:solidFill>
                  <a:schemeClr val="accent1"/>
                </a:solidFill>
              </a:rPr>
              <a:t>col</a:t>
            </a:r>
            <a:r>
              <a:rPr lang="en-US" dirty="0">
                <a:solidFill>
                  <a:schemeClr val="accent1"/>
                </a:solidFill>
              </a:rPr>
              <a:t>. This gives us a direct reference to the Postman collection loaded from the JSON file.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9" name="import Collection">
            <a:extLst>
              <a:ext uri="{FF2B5EF4-FFF2-40B4-BE49-F238E27FC236}">
                <a16:creationId xmlns:a16="http://schemas.microsoft.com/office/drawing/2014/main" id="{97D534CB-3855-D2F5-388F-F3F6D6B238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54222" y="1619889"/>
            <a:ext cx="435245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dirty="0">
                <a:solidFill>
                  <a:srgbClr val="950055"/>
                </a:solidFill>
                <a:latin typeface="Consolas" panose="020B0609020204030204" pitchFamily="49" charset="0"/>
              </a:rPr>
              <a:t>import </a:t>
            </a:r>
            <a:r>
              <a:rPr lang="en-US" sz="115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io.jpostman.Collection</a:t>
            </a:r>
            <a:r>
              <a:rPr lang="en-US" sz="1150" kern="0" dirty="0">
                <a:solidFill>
                  <a:srgbClr val="363636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cxt.getCollection();">
            <a:extLst>
              <a:ext uri="{FF2B5EF4-FFF2-40B4-BE49-F238E27FC236}">
                <a16:creationId xmlns:a16="http://schemas.microsoft.com/office/drawing/2014/main" id="{D268220D-0E45-DC34-0899-5E95ACDB00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0823" y="3324862"/>
            <a:ext cx="4449278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Collection col = </a:t>
            </a:r>
            <a:r>
              <a:rPr lang="en-US" sz="115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cxt.getCollection</a:t>
            </a:r>
            <a:r>
              <a:rPr lang="en-US" sz="115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</a:p>
        </p:txBody>
      </p:sp>
      <p:pic>
        <p:nvPicPr>
          <p:cNvPr id="14" name="13">
            <a:hlinkClick r:id="" action="ppaction://media"/>
            <a:extLst>
              <a:ext uri="{FF2B5EF4-FFF2-40B4-BE49-F238E27FC236}">
                <a16:creationId xmlns:a16="http://schemas.microsoft.com/office/drawing/2014/main" id="{1D21531D-1D8E-3D9D-7940-0945ECFDDE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59377" y="453041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24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9000">
        <p159:morph option="byObject"/>
      </p:transition>
    </mc:Choice>
    <mc:Fallback xmlns=""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6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7" grpId="0" animBg="1"/>
      <p:bldP spid="9" grpId="0"/>
      <p:bldP spid="10" grpId="0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creenshot2">
            <a:extLst>
              <a:ext uri="{FF2B5EF4-FFF2-40B4-BE49-F238E27FC236}">
                <a16:creationId xmlns:a16="http://schemas.microsoft.com/office/drawing/2014/main" id="{93FB0EDE-8E2C-E272-8490-6B968C2E5A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4" name="Screenshot1">
            <a:extLst>
              <a:ext uri="{FF2B5EF4-FFF2-40B4-BE49-F238E27FC236}">
                <a16:creationId xmlns:a16="http://schemas.microsoft.com/office/drawing/2014/main" id="{6B4CD0DA-1F23-6C1F-6CA1-FAEBF5017E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21029" y="4489511"/>
            <a:ext cx="77501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9424" y="4490104"/>
            <a:ext cx="775017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Next, I will replace the direct </a:t>
            </a:r>
            <a:r>
              <a:rPr lang="en-US" b="1" dirty="0" err="1">
                <a:solidFill>
                  <a:schemeClr val="accent1"/>
                </a:solidFill>
              </a:rPr>
              <a:t>ctx.getCollection</a:t>
            </a:r>
            <a:r>
              <a:rPr lang="en-US" b="1" dirty="0">
                <a:solidFill>
                  <a:schemeClr val="accent1"/>
                </a:solidFill>
              </a:rPr>
              <a:t>() </a:t>
            </a:r>
            <a:r>
              <a:rPr lang="en-US" dirty="0">
                <a:solidFill>
                  <a:schemeClr val="accent1"/>
                </a:solidFill>
              </a:rPr>
              <a:t>call with the new </a:t>
            </a:r>
            <a:r>
              <a:rPr lang="en-US" b="1" dirty="0">
                <a:solidFill>
                  <a:schemeClr val="accent1"/>
                </a:solidFill>
              </a:rPr>
              <a:t>col</a:t>
            </a:r>
            <a:r>
              <a:rPr lang="en-US" dirty="0">
                <a:solidFill>
                  <a:schemeClr val="accent1"/>
                </a:solidFill>
              </a:rPr>
              <a:t> variable to make the code cleaner.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6" name="13">
            <a:hlinkClick r:id="" action="ppaction://media"/>
            <a:extLst>
              <a:ext uri="{FF2B5EF4-FFF2-40B4-BE49-F238E27FC236}">
                <a16:creationId xmlns:a16="http://schemas.microsoft.com/office/drawing/2014/main" id="{BEA3BED7-048E-FD36-FEE1-94BC4A60C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011492" y="399287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72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6500">
        <p159:morph option="byObject"/>
      </p:transition>
    </mc:Choice>
    <mc:Fallback xmlns="">
      <p:transition spd="slow" advClick="0" advTm="6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6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creenshot3">
            <a:extLst>
              <a:ext uri="{FF2B5EF4-FFF2-40B4-BE49-F238E27FC236}">
                <a16:creationId xmlns:a16="http://schemas.microsoft.com/office/drawing/2014/main" id="{5CA72B12-B440-3932-188D-7BAD710965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pic>
        <p:nvPicPr>
          <p:cNvPr id="11" name="Screenshot2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24025" y="-924025"/>
            <a:ext cx="14803916" cy="10448478"/>
          </a:xfrm>
          <a:prstGeom prst="rect">
            <a:avLst/>
          </a:prstGeom>
        </p:spPr>
      </p:pic>
      <p:pic>
        <p:nvPicPr>
          <p:cNvPr id="12" name="Screenshot1">
            <a:extLst>
              <a:ext uri="{FF2B5EF4-FFF2-40B4-BE49-F238E27FC236}">
                <a16:creationId xmlns:a16="http://schemas.microsoft.com/office/drawing/2014/main" id="{93FB0EDE-8E2C-E272-8490-6B968C2E5A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/>
          </p:cNvSpPr>
          <p:nvPr/>
        </p:nvSpPr>
        <p:spPr>
          <a:xfrm>
            <a:off x="3326674" y="5413540"/>
            <a:ext cx="837764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/>
          </p:cNvSpPr>
          <p:nvPr/>
        </p:nvSpPr>
        <p:spPr>
          <a:xfrm>
            <a:off x="3326673" y="5414133"/>
            <a:ext cx="81425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At this point, I will let Eclipse clean up the source code. I will right-click anywhere in the editor, go to </a:t>
            </a:r>
            <a:r>
              <a:rPr lang="en-US" b="1" dirty="0">
                <a:solidFill>
                  <a:schemeClr val="accent1"/>
                </a:solidFill>
              </a:rPr>
              <a:t>Source</a:t>
            </a:r>
            <a:r>
              <a:rPr lang="en-US" dirty="0">
                <a:solidFill>
                  <a:schemeClr val="accent1"/>
                </a:solidFill>
              </a:rPr>
              <a:t>, and select </a:t>
            </a:r>
            <a:r>
              <a:rPr lang="en-US" b="1" dirty="0">
                <a:solidFill>
                  <a:schemeClr val="accent1"/>
                </a:solidFill>
              </a:rPr>
              <a:t>Organize Imports</a:t>
            </a:r>
            <a:r>
              <a:rPr lang="en-US" dirty="0">
                <a:solidFill>
                  <a:schemeClr val="accent1"/>
                </a:solidFill>
              </a:rPr>
              <a:t>. Then I will apply </a:t>
            </a:r>
            <a:r>
              <a:rPr lang="en-US" b="1" dirty="0">
                <a:solidFill>
                  <a:schemeClr val="accent1"/>
                </a:solidFill>
              </a:rPr>
              <a:t>Formatting</a:t>
            </a:r>
            <a:r>
              <a:rPr lang="en-US" dirty="0">
                <a:solidFill>
                  <a:schemeClr val="accent1"/>
                </a:solidFill>
              </a:rPr>
              <a:t>. Now the imports are organized, and the code is easier to read.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0" name="Arrow Move" descr="Cursor with solid fill">
            <a:extLst>
              <a:ext uri="{FF2B5EF4-FFF2-40B4-BE49-F238E27FC236}">
                <a16:creationId xmlns:a16="http://schemas.microsoft.com/office/drawing/2014/main" id="{DD2D041A-7A17-BAD2-4DDB-2FB5BE8143D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2186700" y="1067284"/>
            <a:ext cx="333375" cy="333375"/>
          </a:xfrm>
          <a:prstGeom prst="rect">
            <a:avLst/>
          </a:prstGeom>
        </p:spPr>
      </p:pic>
      <p:pic>
        <p:nvPicPr>
          <p:cNvPr id="19" name="14">
            <a:hlinkClick r:id="" action="ppaction://media"/>
            <a:extLst>
              <a:ext uri="{FF2B5EF4-FFF2-40B4-BE49-F238E27FC236}">
                <a16:creationId xmlns:a16="http://schemas.microsoft.com/office/drawing/2014/main" id="{DF89CB25-5EF7-6D6A-806B-97D64925FC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615511" y="527763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6000"/>
    </mc:Choice>
    <mc:Fallback xmlns="">
      <p:transition advClick="0" advTm="1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6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Motion origin="layout" path="M 1.25E-6 -1.11111E-6 L 0.06419 0.6951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3" y="3474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animMotion origin="layout" path="M 0.06419 0.69514 L 0.48047 0.30579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81" y="-193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autoRev="1" fill="hold" nodeType="withEffect">
                                  <p:stCondLst>
                                    <p:cond delay="7250"/>
                                  </p:stCondLst>
                                  <p:childTnLst>
                                    <p:animScale>
                                      <p:cBhvr>
                                        <p:cTn id="24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7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creenshot3">
            <a:extLst>
              <a:ext uri="{FF2B5EF4-FFF2-40B4-BE49-F238E27FC236}">
                <a16:creationId xmlns:a16="http://schemas.microsoft.com/office/drawing/2014/main" id="{605C3E28-4294-ABC4-E4A7-FD3F0AB038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3256" y="-914400"/>
            <a:ext cx="14776702" cy="10424159"/>
          </a:xfrm>
          <a:prstGeom prst="rect">
            <a:avLst/>
          </a:prstGeom>
        </p:spPr>
      </p:pic>
      <p:pic>
        <p:nvPicPr>
          <p:cNvPr id="11" name="Screenshot2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06257" y="-915316"/>
            <a:ext cx="14785798" cy="10448478"/>
          </a:xfrm>
          <a:prstGeom prst="rect">
            <a:avLst/>
          </a:prstGeom>
        </p:spPr>
      </p:pic>
      <p:pic>
        <p:nvPicPr>
          <p:cNvPr id="18" name="Screenshot1">
            <a:extLst>
              <a:ext uri="{FF2B5EF4-FFF2-40B4-BE49-F238E27FC236}">
                <a16:creationId xmlns:a16="http://schemas.microsoft.com/office/drawing/2014/main" id="{5CA72B12-B440-3932-188D-7BAD710965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89" cy="10424158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2967" y="5413540"/>
            <a:ext cx="678397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52967" y="5414133"/>
            <a:ext cx="748937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 will also give the variable a better name. Since this request is used to get the token, I will rename </a:t>
            </a:r>
            <a:r>
              <a:rPr lang="en-US" b="1" dirty="0">
                <a:solidFill>
                  <a:schemeClr val="accent1"/>
                </a:solidFill>
              </a:rPr>
              <a:t>req</a:t>
            </a:r>
            <a:r>
              <a:rPr lang="en-US" dirty="0">
                <a:solidFill>
                  <a:schemeClr val="accent1"/>
                </a:solidFill>
              </a:rPr>
              <a:t> to </a:t>
            </a:r>
            <a:r>
              <a:rPr lang="en-US" b="1" dirty="0" err="1">
                <a:solidFill>
                  <a:schemeClr val="accent1"/>
                </a:solidFill>
              </a:rPr>
              <a:t>reqToken</a:t>
            </a:r>
            <a:r>
              <a:rPr lang="en-US" dirty="0">
                <a:solidFill>
                  <a:schemeClr val="accent1"/>
                </a:solidFill>
              </a:rPr>
              <a:t>. I will right-click the variable, choose </a:t>
            </a:r>
            <a:r>
              <a:rPr lang="en-US" b="1" dirty="0">
                <a:solidFill>
                  <a:schemeClr val="accent1"/>
                </a:solidFill>
              </a:rPr>
              <a:t>Refactor</a:t>
            </a:r>
            <a:r>
              <a:rPr lang="en-US" dirty="0">
                <a:solidFill>
                  <a:schemeClr val="accent1"/>
                </a:solidFill>
              </a:rPr>
              <a:t> → </a:t>
            </a:r>
            <a:r>
              <a:rPr lang="en-US" b="1" dirty="0">
                <a:solidFill>
                  <a:schemeClr val="accent1"/>
                </a:solidFill>
              </a:rPr>
              <a:t>Rename</a:t>
            </a:r>
            <a:r>
              <a:rPr lang="en-US" dirty="0">
                <a:solidFill>
                  <a:schemeClr val="accent1"/>
                </a:solidFill>
              </a:rPr>
              <a:t>, and enter the new name.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0" name="Arrow Move" descr="Cursor with solid fill">
            <a:extLst>
              <a:ext uri="{FF2B5EF4-FFF2-40B4-BE49-F238E27FC236}">
                <a16:creationId xmlns:a16="http://schemas.microsoft.com/office/drawing/2014/main" id="{DD2D041A-7A17-BAD2-4DDB-2FB5BE8143D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3580991" y="4345747"/>
            <a:ext cx="333375" cy="333375"/>
          </a:xfrm>
          <a:prstGeom prst="rect">
            <a:avLst/>
          </a:prstGeom>
        </p:spPr>
      </p:pic>
      <p:pic>
        <p:nvPicPr>
          <p:cNvPr id="3" name="15">
            <a:hlinkClick r:id="" action="ppaction://media"/>
            <a:extLst>
              <a:ext uri="{FF2B5EF4-FFF2-40B4-BE49-F238E27FC236}">
                <a16:creationId xmlns:a16="http://schemas.microsoft.com/office/drawing/2014/main" id="{48BEAEBC-EE6E-957D-3E2C-B4FC1B3535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417857" y="51087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95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15000"/>
    </mc:Choice>
    <mc:Fallback>
      <p:transition advClick="0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8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9250"/>
                                  </p:stCondLst>
                                  <p:childTnLst>
                                    <p:animMotion origin="layout" path="M -1.875E-6 -3.7037E-7 L 0.0668 0.22593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1129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10250"/>
                                  </p:stCondLst>
                                  <p:childTnLst>
                                    <p:animMotion origin="layout" path="M 0.0668 0.22593 L 0.35339 -0.4937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3599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autoRev="1" fill="hold" nodeType="withEffect">
                                  <p:stCondLst>
                                    <p:cond delay="11250"/>
                                  </p:stCondLst>
                                  <p:childTnLst>
                                    <p:animScale>
                                      <p:cBhvr>
                                        <p:cTn id="24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1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1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creenshot3">
            <a:extLst>
              <a:ext uri="{FF2B5EF4-FFF2-40B4-BE49-F238E27FC236}">
                <a16:creationId xmlns:a16="http://schemas.microsoft.com/office/drawing/2014/main" id="{605C3E28-4294-ABC4-E4A7-FD3F0AB038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pic>
        <p:nvPicPr>
          <p:cNvPr id="11" name="Screenshot2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06257" y="-919219"/>
            <a:ext cx="14785798" cy="10437033"/>
          </a:xfrm>
          <a:prstGeom prst="rect">
            <a:avLst/>
          </a:prstGeom>
        </p:spPr>
      </p:pic>
      <p:pic>
        <p:nvPicPr>
          <p:cNvPr id="18" name="Screenshot1">
            <a:extLst>
              <a:ext uri="{FF2B5EF4-FFF2-40B4-BE49-F238E27FC236}">
                <a16:creationId xmlns:a16="http://schemas.microsoft.com/office/drawing/2014/main" id="{5CA72B12-B440-3932-188D-7BAD710965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89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4092" y="5413540"/>
            <a:ext cx="678397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4092" y="5414133"/>
            <a:ext cx="74893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 will also apply the same refactoring step to the response variable. Since this response belongs to the token request, I will rename </a:t>
            </a:r>
            <a:r>
              <a:rPr lang="en-US" b="1" dirty="0">
                <a:solidFill>
                  <a:schemeClr val="accent1"/>
                </a:solidFill>
              </a:rPr>
              <a:t>res</a:t>
            </a:r>
            <a:r>
              <a:rPr lang="en-US" dirty="0">
                <a:solidFill>
                  <a:schemeClr val="accent1"/>
                </a:solidFill>
              </a:rPr>
              <a:t> to </a:t>
            </a:r>
            <a:r>
              <a:rPr lang="en-US" b="1" dirty="0" err="1">
                <a:solidFill>
                  <a:schemeClr val="accent1"/>
                </a:solidFill>
              </a:rPr>
              <a:t>resToken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0" name="Arrow Move" descr="Cursor with solid fill">
            <a:extLst>
              <a:ext uri="{FF2B5EF4-FFF2-40B4-BE49-F238E27FC236}">
                <a16:creationId xmlns:a16="http://schemas.microsoft.com/office/drawing/2014/main" id="{DD2D041A-7A17-BAD2-4DDB-2FB5BE8143D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3937126" y="4663379"/>
            <a:ext cx="333375" cy="333375"/>
          </a:xfrm>
          <a:prstGeom prst="rect">
            <a:avLst/>
          </a:prstGeom>
        </p:spPr>
      </p:pic>
      <p:pic>
        <p:nvPicPr>
          <p:cNvPr id="14" name="16">
            <a:hlinkClick r:id="" action="ppaction://media"/>
            <a:extLst>
              <a:ext uri="{FF2B5EF4-FFF2-40B4-BE49-F238E27FC236}">
                <a16:creationId xmlns:a16="http://schemas.microsoft.com/office/drawing/2014/main" id="{01B91DCB-3376-1B00-3A02-E5C0DCC38E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688388" y="54135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40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10500"/>
    </mc:Choice>
    <mc:Fallback>
      <p:transition advClick="0" advTm="10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1.45833E-6 1.85185E-6 L 0.0556 0.1794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2" y="895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0.0556 0.1794 L 0.3513 -0.5430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9" y="-3613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autoRev="1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Scale>
                                      <p:cBhvr>
                                        <p:cTn id="24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2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06257" y="-905558"/>
            <a:ext cx="14785798" cy="10428961"/>
          </a:xfrm>
          <a:prstGeom prst="rect">
            <a:avLst/>
          </a:prstGeom>
        </p:spPr>
      </p:pic>
      <p:pic>
        <p:nvPicPr>
          <p:cNvPr id="18" name="Screenshot1">
            <a:extLst>
              <a:ext uri="{FF2B5EF4-FFF2-40B4-BE49-F238E27FC236}">
                <a16:creationId xmlns:a16="http://schemas.microsoft.com/office/drawing/2014/main" id="{5CA72B12-B440-3932-188D-7BAD710965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89" cy="10424158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43342" y="5413540"/>
            <a:ext cx="678397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43342" y="5414133"/>
            <a:ext cx="748937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Finally, I will simplify the code by removing the separate </a:t>
            </a:r>
            <a:r>
              <a:rPr lang="en-US" b="1" dirty="0" err="1">
                <a:solidFill>
                  <a:schemeClr val="accent1"/>
                </a:solidFill>
              </a:rPr>
              <a:t>resolvedRequest</a:t>
            </a:r>
            <a:r>
              <a:rPr lang="en-US" dirty="0">
                <a:solidFill>
                  <a:schemeClr val="accent1"/>
                </a:solidFill>
              </a:rPr>
              <a:t> variable. I will move the </a:t>
            </a:r>
            <a:r>
              <a:rPr lang="en-US" b="1" dirty="0">
                <a:solidFill>
                  <a:schemeClr val="accent1"/>
                </a:solidFill>
              </a:rPr>
              <a:t>.builder().build(env) </a:t>
            </a:r>
            <a:r>
              <a:rPr lang="en-US" dirty="0">
                <a:solidFill>
                  <a:schemeClr val="accent1"/>
                </a:solidFill>
              </a:rPr>
              <a:t>call to the end of the </a:t>
            </a:r>
            <a:r>
              <a:rPr lang="en-US" b="1" dirty="0" err="1">
                <a:solidFill>
                  <a:schemeClr val="accent1"/>
                </a:solidFill>
              </a:rPr>
              <a:t>reqToken</a:t>
            </a:r>
            <a:r>
              <a:rPr lang="en-US" dirty="0">
                <a:solidFill>
                  <a:schemeClr val="accent1"/>
                </a:solidFill>
              </a:rPr>
              <a:t> line, then press </a:t>
            </a:r>
            <a:r>
              <a:rPr lang="en-US" b="1" dirty="0">
                <a:solidFill>
                  <a:schemeClr val="accent1"/>
                </a:solidFill>
              </a:rPr>
              <a:t>Delete</a:t>
            </a:r>
            <a:r>
              <a:rPr lang="en-US" dirty="0">
                <a:solidFill>
                  <a:schemeClr val="accent1"/>
                </a:solidFill>
              </a:rPr>
              <a:t> to remove the extra line.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3" name="17">
            <a:hlinkClick r:id="" action="ppaction://media"/>
            <a:extLst>
              <a:ext uri="{FF2B5EF4-FFF2-40B4-BE49-F238E27FC236}">
                <a16:creationId xmlns:a16="http://schemas.microsoft.com/office/drawing/2014/main" id="{93248754-A945-2A88-FBD6-1A08B3251C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527551" y="55704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92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14500"/>
    </mc:Choice>
    <mc:Fallback>
      <p:transition advClick="0" advTm="14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creenshot3">
            <a:extLst>
              <a:ext uri="{FF2B5EF4-FFF2-40B4-BE49-F238E27FC236}">
                <a16:creationId xmlns:a16="http://schemas.microsoft.com/office/drawing/2014/main" id="{A89E813D-17FF-E02C-0955-D68768DF06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18" name="Screenshot2">
            <a:extLst>
              <a:ext uri="{FF2B5EF4-FFF2-40B4-BE49-F238E27FC236}">
                <a16:creationId xmlns:a16="http://schemas.microsoft.com/office/drawing/2014/main" id="{5CA72B12-B440-3932-188D-7BAD710965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99059" y="-904775"/>
            <a:ext cx="14767557" cy="10424158"/>
          </a:xfrm>
          <a:prstGeom prst="rect">
            <a:avLst/>
          </a:prstGeom>
        </p:spPr>
      </p:pic>
      <p:pic>
        <p:nvPicPr>
          <p:cNvPr id="11" name="Screenshot1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06257" y="-905558"/>
            <a:ext cx="14785798" cy="10428961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6274" y="5413540"/>
            <a:ext cx="607354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6274" y="5414133"/>
            <a:ext cx="607354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Since we removed the </a:t>
            </a:r>
            <a:r>
              <a:rPr lang="en-US" b="1" dirty="0" err="1">
                <a:solidFill>
                  <a:schemeClr val="accent1"/>
                </a:solidFill>
              </a:rPr>
              <a:t>resolvedRequest</a:t>
            </a:r>
            <a:r>
              <a:rPr lang="en-US" dirty="0">
                <a:solidFill>
                  <a:schemeClr val="accent1"/>
                </a:solidFill>
              </a:rPr>
              <a:t> variable, Eclipse shows an error. Hover over </a:t>
            </a:r>
            <a:r>
              <a:rPr lang="en-US" b="1" dirty="0" err="1">
                <a:solidFill>
                  <a:schemeClr val="accent1"/>
                </a:solidFill>
              </a:rPr>
              <a:t>resolvedRequest</a:t>
            </a:r>
            <a:r>
              <a:rPr lang="en-US" dirty="0">
                <a:solidFill>
                  <a:schemeClr val="accent1"/>
                </a:solidFill>
              </a:rPr>
              <a:t> and select </a:t>
            </a:r>
            <a:r>
              <a:rPr lang="en-US" b="1" dirty="0">
                <a:solidFill>
                  <a:schemeClr val="accent1"/>
                </a:solidFill>
              </a:rPr>
              <a:t>Change to '</a:t>
            </a:r>
            <a:r>
              <a:rPr lang="en-US" b="1" dirty="0" err="1">
                <a:solidFill>
                  <a:schemeClr val="accent1"/>
                </a:solidFill>
              </a:rPr>
              <a:t>reqToken</a:t>
            </a:r>
            <a:r>
              <a:rPr lang="en-US" b="1" dirty="0">
                <a:solidFill>
                  <a:schemeClr val="accent1"/>
                </a:solidFill>
              </a:rPr>
              <a:t>' </a:t>
            </a:r>
            <a:r>
              <a:rPr lang="en-US" dirty="0">
                <a:solidFill>
                  <a:schemeClr val="accent1"/>
                </a:solidFill>
              </a:rPr>
              <a:t>from the quick-fix menu.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" name="Arrow Move" descr="Cursor with solid fill">
            <a:extLst>
              <a:ext uri="{FF2B5EF4-FFF2-40B4-BE49-F238E27FC236}">
                <a16:creationId xmlns:a16="http://schemas.microsoft.com/office/drawing/2014/main" id="{3C8E27D8-5554-8233-744D-2ECB2DF7F89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8066363" y="4519000"/>
            <a:ext cx="333375" cy="333375"/>
          </a:xfrm>
          <a:prstGeom prst="rect">
            <a:avLst/>
          </a:prstGeom>
        </p:spPr>
      </p:pic>
      <p:pic>
        <p:nvPicPr>
          <p:cNvPr id="8" name="18">
            <a:hlinkClick r:id="" action="ppaction://media"/>
            <a:extLst>
              <a:ext uri="{FF2B5EF4-FFF2-40B4-BE49-F238E27FC236}">
                <a16:creationId xmlns:a16="http://schemas.microsoft.com/office/drawing/2014/main" id="{263D0EB2-5D5B-875C-8762-A245B2232E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787739" y="55704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33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9500"/>
    </mc:Choice>
    <mc:Fallback>
      <p:transition advClick="0" advTm="9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Motion origin="layout" path="M -4.16667E-7 -3.33333E-6 L 0.03307 0.2178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1088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autoRev="1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Scale>
                                      <p:cBhvr>
                                        <p:cTn id="20" dur="250" fill="hold"/>
                                        <p:tgtEl>
                                          <p:spTgt spid="4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creenshot2">
            <a:extLst>
              <a:ext uri="{FF2B5EF4-FFF2-40B4-BE49-F238E27FC236}">
                <a16:creationId xmlns:a16="http://schemas.microsoft.com/office/drawing/2014/main" id="{514E283E-766B-34CD-EA16-060E1443E4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pic>
        <p:nvPicPr>
          <p:cNvPr id="11" name="Screenshot1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85797" cy="10428961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6569" y="4786098"/>
            <a:ext cx="96565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6570" y="4786691"/>
            <a:ext cx="965658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Let’s call </a:t>
            </a:r>
            <a:r>
              <a:rPr lang="en-US" b="1" dirty="0" err="1">
                <a:solidFill>
                  <a:schemeClr val="accent1"/>
                </a:solidFill>
              </a:rPr>
              <a:t>col.print</a:t>
            </a:r>
            <a:r>
              <a:rPr lang="en-US" b="1" dirty="0">
                <a:solidFill>
                  <a:schemeClr val="accent1"/>
                </a:solidFill>
              </a:rPr>
              <a:t>() </a:t>
            </a:r>
            <a:r>
              <a:rPr lang="en-US" dirty="0">
                <a:solidFill>
                  <a:schemeClr val="accent1"/>
                </a:solidFill>
              </a:rPr>
              <a:t>to display all available requests under the root collection again. Then press </a:t>
            </a:r>
            <a:r>
              <a:rPr lang="en-US" b="1" dirty="0">
                <a:solidFill>
                  <a:schemeClr val="accent1"/>
                </a:solidFill>
              </a:rPr>
              <a:t>Ctrl + F11 </a:t>
            </a:r>
            <a:r>
              <a:rPr lang="en-US" dirty="0">
                <a:solidFill>
                  <a:schemeClr val="accent1"/>
                </a:solidFill>
              </a:rPr>
              <a:t>to run the test. For the next API call, we will use the </a:t>
            </a:r>
            <a:r>
              <a:rPr lang="en-US" b="1" dirty="0">
                <a:solidFill>
                  <a:schemeClr val="accent1"/>
                </a:solidFill>
              </a:rPr>
              <a:t>Get current auth user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.print">
            <a:extLst>
              <a:ext uri="{FF2B5EF4-FFF2-40B4-BE49-F238E27FC236}">
                <a16:creationId xmlns:a16="http://schemas.microsoft.com/office/drawing/2014/main" id="{23A941ED-4371-5281-D527-FEFB98ED89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5584" y="4011641"/>
            <a:ext cx="4449278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b="1" kern="0" dirty="0" err="1">
                <a:solidFill>
                  <a:srgbClr val="363636"/>
                </a:solidFill>
                <a:latin typeface="Consolas" panose="020B0609020204030204" pitchFamily="49" charset="0"/>
              </a:rPr>
              <a:t>col.print</a:t>
            </a:r>
            <a:r>
              <a:rPr lang="en-US" sz="1150" b="1" kern="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</a:p>
        </p:txBody>
      </p:sp>
      <p:pic>
        <p:nvPicPr>
          <p:cNvPr id="20" name="19">
            <a:hlinkClick r:id="" action="ppaction://media"/>
            <a:extLst>
              <a:ext uri="{FF2B5EF4-FFF2-40B4-BE49-F238E27FC236}">
                <a16:creationId xmlns:a16="http://schemas.microsoft.com/office/drawing/2014/main" id="{C4246ECA-6893-F477-09BE-65EBDCF3D0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81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14000"/>
    </mc:Choice>
    <mc:Fallback>
      <p:transition advClick="0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  <p:bldLst>
      <p:bldP spid="7" grpId="0" animBg="1"/>
      <p:bldP spid="3" grpId="0"/>
      <p:bldP spid="3" grpId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creenshot3">
            <a:extLst>
              <a:ext uri="{FF2B5EF4-FFF2-40B4-BE49-F238E27FC236}">
                <a16:creationId xmlns:a16="http://schemas.microsoft.com/office/drawing/2014/main" id="{0054D229-E43D-22AC-876F-1D56CD8AE6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-2622021"/>
            <a:ext cx="14778990" cy="10424160"/>
          </a:xfrm>
          <a:prstGeom prst="rect">
            <a:avLst/>
          </a:prstGeom>
        </p:spPr>
      </p:pic>
      <p:pic>
        <p:nvPicPr>
          <p:cNvPr id="12" name="Screenshot2">
            <a:extLst>
              <a:ext uri="{FF2B5EF4-FFF2-40B4-BE49-F238E27FC236}">
                <a16:creationId xmlns:a16="http://schemas.microsoft.com/office/drawing/2014/main" id="{514E283E-766B-34CD-EA16-060E1443E4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2611000"/>
            <a:ext cx="14778990" cy="10424159"/>
          </a:xfrm>
          <a:prstGeom prst="rect">
            <a:avLst/>
          </a:prstGeom>
        </p:spPr>
      </p:pic>
      <p:pic>
        <p:nvPicPr>
          <p:cNvPr id="11" name="Screenshot1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2622019"/>
            <a:ext cx="14785797" cy="1042896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6569" y="4697962"/>
            <a:ext cx="96565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6570" y="4698555"/>
            <a:ext cx="965658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 save time, I will reuse the same three lines from the token request implementation. I will copy and paste them below the existing code, then replace the request name with </a:t>
            </a:r>
            <a:r>
              <a:rPr lang="en-US" b="1" dirty="0">
                <a:solidFill>
                  <a:schemeClr val="accent1"/>
                </a:solidFill>
              </a:rPr>
              <a:t>Get current auth user</a:t>
            </a:r>
            <a:r>
              <a:rPr lang="en-US" dirty="0">
                <a:solidFill>
                  <a:schemeClr val="accent1"/>
                </a:solidFill>
              </a:rPr>
              <a:t> from the console output.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4" name="20">
            <a:hlinkClick r:id="" action="ppaction://media"/>
            <a:extLst>
              <a:ext uri="{FF2B5EF4-FFF2-40B4-BE49-F238E27FC236}">
                <a16:creationId xmlns:a16="http://schemas.microsoft.com/office/drawing/2014/main" id="{3866F8A1-9144-B8C4-4267-EA7517FB11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423354" y="38953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65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13500"/>
    </mc:Choice>
    <mc:Fallback>
      <p:transition advClick="0" advTm="13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creenshot4">
            <a:extLst>
              <a:ext uri="{FF2B5EF4-FFF2-40B4-BE49-F238E27FC236}">
                <a16:creationId xmlns:a16="http://schemas.microsoft.com/office/drawing/2014/main" id="{8C9C438C-3507-620F-D703-184518DBE5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2624328"/>
            <a:ext cx="14778989" cy="10424159"/>
          </a:xfrm>
          <a:prstGeom prst="rect">
            <a:avLst/>
          </a:prstGeom>
        </p:spPr>
      </p:pic>
      <p:pic>
        <p:nvPicPr>
          <p:cNvPr id="6" name="Screenshot3">
            <a:extLst>
              <a:ext uri="{FF2B5EF4-FFF2-40B4-BE49-F238E27FC236}">
                <a16:creationId xmlns:a16="http://schemas.microsoft.com/office/drawing/2014/main" id="{0054D229-E43D-22AC-876F-1D56CD8AE6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2622021"/>
            <a:ext cx="14778990" cy="10424159"/>
          </a:xfrm>
          <a:prstGeom prst="rect">
            <a:avLst/>
          </a:prstGeom>
        </p:spPr>
      </p:pic>
      <p:pic>
        <p:nvPicPr>
          <p:cNvPr id="12" name="Screenshot2">
            <a:extLst>
              <a:ext uri="{FF2B5EF4-FFF2-40B4-BE49-F238E27FC236}">
                <a16:creationId xmlns:a16="http://schemas.microsoft.com/office/drawing/2014/main" id="{514E283E-766B-34CD-EA16-060E1443E4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2611000"/>
            <a:ext cx="14778989" cy="10424159"/>
          </a:xfrm>
          <a:prstGeom prst="rect">
            <a:avLst/>
          </a:prstGeom>
        </p:spPr>
      </p:pic>
      <p:pic>
        <p:nvPicPr>
          <p:cNvPr id="11" name="Screenshot1">
            <a:extLst>
              <a:ext uri="{FF2B5EF4-FFF2-40B4-BE49-F238E27FC236}">
                <a16:creationId xmlns:a16="http://schemas.microsoft.com/office/drawing/2014/main" id="{09CE58BE-DC28-E691-910A-2E703891F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2622019"/>
            <a:ext cx="14785796" cy="1042896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6569" y="4697962"/>
            <a:ext cx="96565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16570" y="4698555"/>
            <a:ext cx="965658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 the second request, I will rename the variable </a:t>
            </a:r>
            <a:r>
              <a:rPr lang="en-US" b="1" dirty="0" err="1">
                <a:solidFill>
                  <a:schemeClr val="accent1"/>
                </a:solidFill>
              </a:rPr>
              <a:t>reqToken</a:t>
            </a:r>
            <a:r>
              <a:rPr lang="en-US" dirty="0">
                <a:solidFill>
                  <a:schemeClr val="accent1"/>
                </a:solidFill>
              </a:rPr>
              <a:t> to </a:t>
            </a:r>
            <a:r>
              <a:rPr lang="en-US" b="1" dirty="0" err="1">
                <a:solidFill>
                  <a:schemeClr val="accent1"/>
                </a:solidFill>
              </a:rPr>
              <a:t>reqUser</a:t>
            </a:r>
            <a:r>
              <a:rPr lang="en-US" dirty="0">
                <a:solidFill>
                  <a:schemeClr val="accent1"/>
                </a:solidFill>
              </a:rPr>
              <a:t>, and I will change the response object from </a:t>
            </a:r>
            <a:r>
              <a:rPr lang="en-US" b="1" dirty="0" err="1">
                <a:solidFill>
                  <a:schemeClr val="accent1"/>
                </a:solidFill>
              </a:rPr>
              <a:t>resToken</a:t>
            </a:r>
            <a:r>
              <a:rPr lang="en-US" dirty="0">
                <a:solidFill>
                  <a:schemeClr val="accent1"/>
                </a:solidFill>
              </a:rPr>
              <a:t> to </a:t>
            </a:r>
            <a:r>
              <a:rPr lang="en-US" b="1" dirty="0" err="1">
                <a:solidFill>
                  <a:schemeClr val="accent1"/>
                </a:solidFill>
              </a:rPr>
              <a:t>resUser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3" name="Arrow Move" descr="Cursor with solid fill">
            <a:extLst>
              <a:ext uri="{FF2B5EF4-FFF2-40B4-BE49-F238E27FC236}">
                <a16:creationId xmlns:a16="http://schemas.microsoft.com/office/drawing/2014/main" id="{CC317711-AD4E-3665-8DD3-35FAB306DF9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16918">
            <a:off x="3540518" y="3341355"/>
            <a:ext cx="333375" cy="333375"/>
          </a:xfrm>
          <a:prstGeom prst="rect">
            <a:avLst/>
          </a:prstGeom>
        </p:spPr>
      </p:pic>
      <p:pic>
        <p:nvPicPr>
          <p:cNvPr id="5" name="21">
            <a:hlinkClick r:id="" action="ppaction://media"/>
            <a:extLst>
              <a:ext uri="{FF2B5EF4-FFF2-40B4-BE49-F238E27FC236}">
                <a16:creationId xmlns:a16="http://schemas.microsoft.com/office/drawing/2014/main" id="{2CC4D0CC-6B54-33C2-7DE7-66C238343D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073150" y="394564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94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10000">
        <p159:morph option="byObject"/>
      </p:transition>
    </mc:Choice>
    <mc:Fallback>
      <p:transition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3.54167E-6 -4.07407E-6 L 0.02721 0.0201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" y="99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creenshot1">
            <a:extLst>
              <a:ext uri="{FF2B5EF4-FFF2-40B4-BE49-F238E27FC236}">
                <a16:creationId xmlns:a16="http://schemas.microsoft.com/office/drawing/2014/main" id="{45B07FAA-7F29-405D-F8E9-6A787E5F21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59797" y="4488640"/>
            <a:ext cx="96565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59798" y="4489233"/>
            <a:ext cx="965658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first request passed, but the second request returned status code </a:t>
            </a:r>
            <a:r>
              <a:rPr lang="en-US" b="1" dirty="0">
                <a:solidFill>
                  <a:schemeClr val="accent1"/>
                </a:solidFill>
              </a:rPr>
              <a:t>401</a:t>
            </a:r>
            <a:r>
              <a:rPr lang="en-US" dirty="0">
                <a:solidFill>
                  <a:schemeClr val="accent1"/>
                </a:solidFill>
              </a:rPr>
              <a:t> with the message </a:t>
            </a:r>
            <a:r>
              <a:rPr lang="en-US" b="1" dirty="0">
                <a:solidFill>
                  <a:schemeClr val="accent1"/>
                </a:solidFill>
              </a:rPr>
              <a:t>Access Token is required</a:t>
            </a:r>
            <a:r>
              <a:rPr lang="en-US" dirty="0">
                <a:solidFill>
                  <a:schemeClr val="accent1"/>
                </a:solidFill>
              </a:rPr>
              <a:t>. This means the request is missing an authorization value. The easiest way to debug this is to print the second request details, including the URL, headers, and body.</a:t>
            </a:r>
          </a:p>
        </p:txBody>
      </p:sp>
      <p:pic>
        <p:nvPicPr>
          <p:cNvPr id="4" name="22">
            <a:hlinkClick r:id="" action="ppaction://media"/>
            <a:extLst>
              <a:ext uri="{FF2B5EF4-FFF2-40B4-BE49-F238E27FC236}">
                <a16:creationId xmlns:a16="http://schemas.microsoft.com/office/drawing/2014/main" id="{102E759B-50E7-37FF-F556-5129B9DE99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54718" y="577926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21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8000">
        <p159:morph option="byObject"/>
      </p:transition>
    </mc:Choice>
    <mc:Fallback>
      <p:transition spd="slow" advClick="0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2">
            <a:extLst>
              <a:ext uri="{FF2B5EF4-FFF2-40B4-BE49-F238E27FC236}">
                <a16:creationId xmlns:a16="http://schemas.microsoft.com/office/drawing/2014/main" id="{7590E7ED-2560-B0F8-BE92-FCFB9F54FF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pic>
        <p:nvPicPr>
          <p:cNvPr id="8" name="Screenshot1">
            <a:extLst>
              <a:ext uri="{FF2B5EF4-FFF2-40B4-BE49-F238E27FC236}">
                <a16:creationId xmlns:a16="http://schemas.microsoft.com/office/drawing/2014/main" id="{7A0F34DF-5FEB-7A8F-923A-DA449032A9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90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4" y="5742900"/>
            <a:ext cx="104493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6" y="5743493"/>
            <a:ext cx="1044937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 debugging, I will replace the collection </a:t>
            </a:r>
            <a:r>
              <a:rPr lang="en-US" b="1" dirty="0">
                <a:solidFill>
                  <a:schemeClr val="accent1"/>
                </a:solidFill>
              </a:rPr>
              <a:t>print</a:t>
            </a:r>
            <a:r>
              <a:rPr lang="en-US" dirty="0">
                <a:solidFill>
                  <a:schemeClr val="accent1"/>
                </a:solidFill>
              </a:rPr>
              <a:t> line with two print statements: one for the </a:t>
            </a:r>
            <a:r>
              <a:rPr lang="en-US" b="1" dirty="0">
                <a:solidFill>
                  <a:schemeClr val="accent1"/>
                </a:solidFill>
              </a:rPr>
              <a:t>unresolved</a:t>
            </a:r>
            <a:r>
              <a:rPr lang="en-US" dirty="0">
                <a:solidFill>
                  <a:schemeClr val="accent1"/>
                </a:solidFill>
              </a:rPr>
              <a:t> request and one for the </a:t>
            </a:r>
            <a:r>
              <a:rPr lang="en-US" b="1" dirty="0">
                <a:solidFill>
                  <a:schemeClr val="accent1"/>
                </a:solidFill>
              </a:rPr>
              <a:t>resolved</a:t>
            </a:r>
            <a:r>
              <a:rPr lang="en-US" dirty="0">
                <a:solidFill>
                  <a:schemeClr val="accent1"/>
                </a:solidFill>
              </a:rPr>
              <a:t> request. I want to execute the code only up to these lines, so I will set a breakpoint and run the test in </a:t>
            </a:r>
            <a:r>
              <a:rPr lang="en-US" b="1" dirty="0">
                <a:solidFill>
                  <a:schemeClr val="accent1"/>
                </a:solidFill>
              </a:rPr>
              <a:t>Debug</a:t>
            </a:r>
            <a:r>
              <a:rPr lang="en-US" dirty="0">
                <a:solidFill>
                  <a:schemeClr val="accent1"/>
                </a:solidFill>
              </a:rPr>
              <a:t> mode from Eclipse.</a:t>
            </a:r>
          </a:p>
        </p:txBody>
      </p:sp>
      <p:sp>
        <p:nvSpPr>
          <p:cNvPr id="9" name="getRequest print">
            <a:extLst>
              <a:ext uri="{FF2B5EF4-FFF2-40B4-BE49-F238E27FC236}">
                <a16:creationId xmlns:a16="http://schemas.microsoft.com/office/drawing/2014/main" id="{E3ACB5E2-2782-9C09-EA19-238E557FF4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89923" y="2797094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col.getRequest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r>
              <a:rPr lang="en-US" sz="1140" b="1" kern="0" spc="10" dirty="0">
                <a:solidFill>
                  <a:srgbClr val="1800FF"/>
                </a:solidFill>
                <a:latin typeface="Consolas" panose="020B0609020204030204" pitchFamily="49" charset="0"/>
              </a:rPr>
              <a:t>"Get current auth user"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).print();</a:t>
            </a:r>
          </a:p>
        </p:txBody>
      </p:sp>
      <p:sp>
        <p:nvSpPr>
          <p:cNvPr id="10" name="getRequest builder">
            <a:extLst>
              <a:ext uri="{FF2B5EF4-FFF2-40B4-BE49-F238E27FC236}">
                <a16:creationId xmlns:a16="http://schemas.microsoft.com/office/drawing/2014/main" id="{6D2F190C-BC83-B68A-801B-BBDCE9D005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88575" y="2965678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col.getRequest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r>
              <a:rPr lang="en-US" sz="1140" b="1" kern="0" spc="10" dirty="0">
                <a:solidFill>
                  <a:srgbClr val="1800FF"/>
                </a:solidFill>
                <a:latin typeface="Consolas" panose="020B0609020204030204" pitchFamily="49" charset="0"/>
              </a:rPr>
              <a:t>"Get current auth user"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).builder().build(env).print();</a:t>
            </a:r>
          </a:p>
        </p:txBody>
      </p:sp>
      <p:sp>
        <p:nvSpPr>
          <p:cNvPr id="15" name="col.print()">
            <a:extLst>
              <a:ext uri="{FF2B5EF4-FFF2-40B4-BE49-F238E27FC236}">
                <a16:creationId xmlns:a16="http://schemas.microsoft.com/office/drawing/2014/main" id="{B21E65F8-9614-8421-9A7E-3316A555DC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79346" y="2789002"/>
            <a:ext cx="9536359" cy="26776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col.print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</a:p>
        </p:txBody>
      </p:sp>
      <p:pic>
        <p:nvPicPr>
          <p:cNvPr id="12" name="Arrow Move" descr="Cursor with solid fill">
            <a:extLst>
              <a:ext uri="{FF2B5EF4-FFF2-40B4-BE49-F238E27FC236}">
                <a16:creationId xmlns:a16="http://schemas.microsoft.com/office/drawing/2014/main" id="{65F7FF2A-7B34-F1EE-920C-A14396B9666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1784645" y="3421046"/>
            <a:ext cx="333375" cy="333375"/>
          </a:xfrm>
          <a:prstGeom prst="rect">
            <a:avLst/>
          </a:prstGeom>
        </p:spPr>
      </p:pic>
      <p:pic>
        <p:nvPicPr>
          <p:cNvPr id="11" name="23">
            <a:hlinkClick r:id="" action="ppaction://media"/>
            <a:extLst>
              <a:ext uri="{FF2B5EF4-FFF2-40B4-BE49-F238E27FC236}">
                <a16:creationId xmlns:a16="http://schemas.microsoft.com/office/drawing/2014/main" id="{BDC800D1-A93C-FD94-3852-BAEEA5EBE6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318060" y="418152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36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5000">
        <p159:morph option="byObject"/>
      </p:transition>
    </mc:Choice>
    <mc:Fallback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xit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2000" autoRev="1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7" grpId="0" animBg="1"/>
      <p:bldP spid="9" grpId="0"/>
      <p:bldP spid="10" grpId="0"/>
      <p:bldP spid="15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creenshot1">
            <a:extLst>
              <a:ext uri="{FF2B5EF4-FFF2-40B4-BE49-F238E27FC236}">
                <a16:creationId xmlns:a16="http://schemas.microsoft.com/office/drawing/2014/main" id="{7A0F34DF-5FEB-7A8F-923A-DA449032A9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914400"/>
            <a:ext cx="14778989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4" y="5742900"/>
            <a:ext cx="104493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6" y="5743493"/>
            <a:ext cx="1044937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From the console output, we can see that the </a:t>
            </a:r>
            <a:r>
              <a:rPr lang="en-US" b="1" dirty="0">
                <a:solidFill>
                  <a:schemeClr val="accent1"/>
                </a:solidFill>
              </a:rPr>
              <a:t>unresolved</a:t>
            </a:r>
            <a:r>
              <a:rPr lang="en-US" dirty="0">
                <a:solidFill>
                  <a:schemeClr val="accent1"/>
                </a:solidFill>
              </a:rPr>
              <a:t> request expects the </a:t>
            </a:r>
            <a:r>
              <a:rPr lang="en-US" b="1" dirty="0" err="1">
                <a:solidFill>
                  <a:schemeClr val="accent1"/>
                </a:solidFill>
              </a:rPr>
              <a:t>accessToken</a:t>
            </a:r>
            <a:r>
              <a:rPr lang="en-US" dirty="0">
                <a:solidFill>
                  <a:schemeClr val="accent1"/>
                </a:solidFill>
              </a:rPr>
              <a:t> value. After </a:t>
            </a:r>
            <a:r>
              <a:rPr lang="en-US" b="1" dirty="0">
                <a:solidFill>
                  <a:schemeClr val="accent1"/>
                </a:solidFill>
              </a:rPr>
              <a:t>resolving</a:t>
            </a:r>
            <a:r>
              <a:rPr lang="en-US" dirty="0">
                <a:solidFill>
                  <a:schemeClr val="accent1"/>
                </a:solidFill>
              </a:rPr>
              <a:t> the request, this value is empty. To fix this, we have two options: update the </a:t>
            </a:r>
            <a:r>
              <a:rPr lang="en-US" b="1" dirty="0">
                <a:solidFill>
                  <a:schemeClr val="accent1"/>
                </a:solidFill>
              </a:rPr>
              <a:t>Environment</a:t>
            </a:r>
            <a:r>
              <a:rPr lang="en-US" dirty="0">
                <a:solidFill>
                  <a:schemeClr val="accent1"/>
                </a:solidFill>
              </a:rPr>
              <a:t> object so the value is available for all requests, or call the </a:t>
            </a:r>
            <a:r>
              <a:rPr lang="en-US" b="1" dirty="0">
                <a:solidFill>
                  <a:schemeClr val="accent1"/>
                </a:solidFill>
              </a:rPr>
              <a:t>auth</a:t>
            </a:r>
            <a:r>
              <a:rPr lang="en-US" dirty="0">
                <a:solidFill>
                  <a:schemeClr val="accent1"/>
                </a:solidFill>
              </a:rPr>
              <a:t> method only for this specific request.</a:t>
            </a:r>
          </a:p>
        </p:txBody>
      </p:sp>
      <p:pic>
        <p:nvPicPr>
          <p:cNvPr id="3" name="24">
            <a:hlinkClick r:id="" action="ppaction://media"/>
            <a:extLst>
              <a:ext uri="{FF2B5EF4-FFF2-40B4-BE49-F238E27FC236}">
                <a16:creationId xmlns:a16="http://schemas.microsoft.com/office/drawing/2014/main" id="{C7468051-22B7-D347-7357-3F2C7612DD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192000" y="38766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44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9000">
        <p159:morph option="byObject"/>
      </p:transition>
    </mc:Choice>
    <mc:Fallback>
      <p:transition spd="slow" advClick="0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6 0.1419 L 0.0056 -0.3919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" y="-26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creenshot4">
            <a:extLst>
              <a:ext uri="{FF2B5EF4-FFF2-40B4-BE49-F238E27FC236}">
                <a16:creationId xmlns:a16="http://schemas.microsoft.com/office/drawing/2014/main" id="{D10C2AB9-4D0A-CAC4-C9F4-F22B777665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12" name="Screenshot3">
            <a:extLst>
              <a:ext uri="{FF2B5EF4-FFF2-40B4-BE49-F238E27FC236}">
                <a16:creationId xmlns:a16="http://schemas.microsoft.com/office/drawing/2014/main" id="{523CB6FA-3122-C970-5A6D-E48C629DDB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10" name="Screenshot2">
            <a:extLst>
              <a:ext uri="{FF2B5EF4-FFF2-40B4-BE49-F238E27FC236}">
                <a16:creationId xmlns:a16="http://schemas.microsoft.com/office/drawing/2014/main" id="{9BE276F7-1B0F-4DA4-6112-A47025215F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pic>
        <p:nvPicPr>
          <p:cNvPr id="5" name="Screenshot1">
            <a:extLst>
              <a:ext uri="{FF2B5EF4-FFF2-40B4-BE49-F238E27FC236}">
                <a16:creationId xmlns:a16="http://schemas.microsoft.com/office/drawing/2014/main" id="{84AE70A8-03AB-6668-00A9-558B4DBA0A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14400" y="-914400"/>
            <a:ext cx="14778990" cy="10424160"/>
          </a:xfrm>
          <a:prstGeom prst="rect">
            <a:avLst/>
          </a:prstGeom>
        </p:spPr>
      </p:pic>
      <p:sp>
        <p:nvSpPr>
          <p:cNvPr id="20" name="resToken.print">
            <a:extLst>
              <a:ext uri="{FF2B5EF4-FFF2-40B4-BE49-F238E27FC236}">
                <a16:creationId xmlns:a16="http://schemas.microsoft.com/office/drawing/2014/main" id="{EA99D4F0-C28E-1B4F-0FE3-90C54E07E066}"/>
              </a:ext>
            </a:extLst>
          </p:cNvPr>
          <p:cNvSpPr txBox="1"/>
          <p:nvPr/>
        </p:nvSpPr>
        <p:spPr>
          <a:xfrm>
            <a:off x="2798100" y="2975203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resToken.print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4" y="5742900"/>
            <a:ext cx="104493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6" y="5743493"/>
            <a:ext cx="1044937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Now I will remove the last </a:t>
            </a:r>
            <a:r>
              <a:rPr lang="en-US" b="1" dirty="0">
                <a:solidFill>
                  <a:schemeClr val="accent1"/>
                </a:solidFill>
              </a:rPr>
              <a:t>breakpoint</a:t>
            </a:r>
            <a:r>
              <a:rPr lang="en-US" dirty="0">
                <a:solidFill>
                  <a:schemeClr val="accent1"/>
                </a:solidFill>
              </a:rPr>
              <a:t> and clean up the temporary debug code. I will </a:t>
            </a:r>
            <a:r>
              <a:rPr lang="en-US" b="1" dirty="0">
                <a:solidFill>
                  <a:schemeClr val="accent1"/>
                </a:solidFill>
              </a:rPr>
              <a:t>delete</a:t>
            </a:r>
            <a:r>
              <a:rPr lang="en-US" dirty="0">
                <a:solidFill>
                  <a:schemeClr val="accent1"/>
                </a:solidFill>
              </a:rPr>
              <a:t> the temporary request print statements, then add </a:t>
            </a:r>
            <a:r>
              <a:rPr lang="en-US" b="1" dirty="0" err="1">
                <a:solidFill>
                  <a:schemeClr val="accent1"/>
                </a:solidFill>
              </a:rPr>
              <a:t>resToken.print</a:t>
            </a:r>
            <a:r>
              <a:rPr lang="en-US" b="1" dirty="0">
                <a:solidFill>
                  <a:schemeClr val="accent1"/>
                </a:solidFill>
              </a:rPr>
              <a:t>() </a:t>
            </a:r>
            <a:r>
              <a:rPr lang="en-US" dirty="0">
                <a:solidFill>
                  <a:schemeClr val="accent1"/>
                </a:solidFill>
              </a:rPr>
              <a:t>so we can review the token response output one more time.</a:t>
            </a:r>
          </a:p>
        </p:txBody>
      </p:sp>
      <p:pic>
        <p:nvPicPr>
          <p:cNvPr id="6" name="Arrow Move" descr="Cursor with solid fill">
            <a:extLst>
              <a:ext uri="{FF2B5EF4-FFF2-40B4-BE49-F238E27FC236}">
                <a16:creationId xmlns:a16="http://schemas.microsoft.com/office/drawing/2014/main" id="{A7A2971C-70A0-204D-0749-38369C8E9C2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16918">
            <a:off x="1794170" y="3068621"/>
            <a:ext cx="333375" cy="333375"/>
          </a:xfrm>
          <a:prstGeom prst="rect">
            <a:avLst/>
          </a:prstGeom>
        </p:spPr>
      </p:pic>
      <p:pic>
        <p:nvPicPr>
          <p:cNvPr id="21" name="25">
            <a:hlinkClick r:id="" action="ppaction://media"/>
            <a:extLst>
              <a:ext uri="{FF2B5EF4-FFF2-40B4-BE49-F238E27FC236}">
                <a16:creationId xmlns:a16="http://schemas.microsoft.com/office/drawing/2014/main" id="{718E7D52-965E-CFBD-6E2F-3F36BD8F97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096750" y="418813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76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repeatCount="2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5" dur="150" fill="hold"/>
                                        <p:tgtEl>
                                          <p:spTgt spid="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20" grpId="0"/>
      <p:bldP spid="7" grpId="0" animBg="1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creenshot3">
            <a:extLst>
              <a:ext uri="{FF2B5EF4-FFF2-40B4-BE49-F238E27FC236}">
                <a16:creationId xmlns:a16="http://schemas.microsoft.com/office/drawing/2014/main" id="{9BE276F7-1B0F-4DA4-6112-A47025215F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243" y="-3200400"/>
            <a:ext cx="14778675" cy="10424160"/>
          </a:xfrm>
          <a:prstGeom prst="rect">
            <a:avLst/>
          </a:prstGeom>
        </p:spPr>
      </p:pic>
      <p:pic>
        <p:nvPicPr>
          <p:cNvPr id="5" name="Screenshot2">
            <a:extLst>
              <a:ext uri="{FF2B5EF4-FFF2-40B4-BE49-F238E27FC236}">
                <a16:creationId xmlns:a16="http://schemas.microsoft.com/office/drawing/2014/main" id="{84AE70A8-03AB-6668-00A9-558B4DBA0A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3200400"/>
            <a:ext cx="14778990" cy="10424159"/>
          </a:xfrm>
          <a:prstGeom prst="rect">
            <a:avLst/>
          </a:prstGeom>
        </p:spPr>
      </p:pic>
      <p:pic>
        <p:nvPicPr>
          <p:cNvPr id="16" name="Screenshot1">
            <a:extLst>
              <a:ext uri="{FF2B5EF4-FFF2-40B4-BE49-F238E27FC236}">
                <a16:creationId xmlns:a16="http://schemas.microsoft.com/office/drawing/2014/main" id="{637B8F9A-8948-F8A3-42C0-C924C0AB8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4400" y="-3200400"/>
            <a:ext cx="14778990" cy="1042415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4" y="5800050"/>
            <a:ext cx="1044938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8146" y="5772068"/>
            <a:ext cx="1055482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request returns an </a:t>
            </a:r>
            <a:r>
              <a:rPr lang="en-US" b="1" dirty="0" err="1">
                <a:solidFill>
                  <a:schemeClr val="accent1"/>
                </a:solidFill>
              </a:rPr>
              <a:t>accessToken</a:t>
            </a:r>
            <a:r>
              <a:rPr lang="en-US" dirty="0">
                <a:solidFill>
                  <a:schemeClr val="accent1"/>
                </a:solidFill>
              </a:rPr>
              <a:t> in the response body. We will use this token in the next request to build a chained request flow. I will replace </a:t>
            </a:r>
            <a:r>
              <a:rPr lang="en-US" b="1" dirty="0">
                <a:solidFill>
                  <a:schemeClr val="accent1"/>
                </a:solidFill>
              </a:rPr>
              <a:t>execute() </a:t>
            </a:r>
            <a:r>
              <a:rPr lang="en-US" dirty="0">
                <a:solidFill>
                  <a:schemeClr val="accent1"/>
                </a:solidFill>
              </a:rPr>
              <a:t>with </a:t>
            </a:r>
            <a:r>
              <a:rPr lang="en-US" b="1" dirty="0">
                <a:solidFill>
                  <a:schemeClr val="accent1"/>
                </a:solidFill>
              </a:rPr>
              <a:t>apply() </a:t>
            </a:r>
            <a:r>
              <a:rPr lang="en-US" dirty="0">
                <a:solidFill>
                  <a:schemeClr val="accent1"/>
                </a:solidFill>
              </a:rPr>
              <a:t>so we can configure the executor before sending the request. Then I will use </a:t>
            </a:r>
            <a:r>
              <a:rPr lang="en-US" b="1" dirty="0">
                <a:solidFill>
                  <a:schemeClr val="accent1"/>
                </a:solidFill>
              </a:rPr>
              <a:t>auth().oauth2() </a:t>
            </a:r>
            <a:r>
              <a:rPr lang="en-US" dirty="0">
                <a:solidFill>
                  <a:schemeClr val="accent1"/>
                </a:solidFill>
              </a:rPr>
              <a:t>and pass the </a:t>
            </a:r>
            <a:r>
              <a:rPr lang="en-US" b="1" dirty="0" err="1">
                <a:solidFill>
                  <a:schemeClr val="accent1"/>
                </a:solidFill>
              </a:rPr>
              <a:t>accessToken</a:t>
            </a:r>
            <a:r>
              <a:rPr lang="en-US" dirty="0">
                <a:solidFill>
                  <a:schemeClr val="accent1"/>
                </a:solidFill>
              </a:rPr>
              <a:t> from the token response.</a:t>
            </a:r>
          </a:p>
        </p:txBody>
      </p:sp>
      <p:sp>
        <p:nvSpPr>
          <p:cNvPr id="9" name="getRequest builder">
            <a:extLst>
              <a:ext uri="{FF2B5EF4-FFF2-40B4-BE49-F238E27FC236}">
                <a16:creationId xmlns:a16="http://schemas.microsoft.com/office/drawing/2014/main" id="{AC820007-3E82-D729-C1AA-93D0D7BD46D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03400" y="1038225"/>
            <a:ext cx="9536359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.auth().oauth2(</a:t>
            </a:r>
            <a:r>
              <a:rPr lang="en-US" sz="1140" b="1" kern="0" spc="10" dirty="0" err="1">
                <a:solidFill>
                  <a:srgbClr val="363636"/>
                </a:solidFill>
                <a:latin typeface="Consolas" panose="020B0609020204030204" pitchFamily="49" charset="0"/>
              </a:rPr>
              <a:t>resToken.path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(</a:t>
            </a:r>
            <a:r>
              <a:rPr lang="en-US" sz="1140" b="1" kern="0" spc="10" dirty="0">
                <a:solidFill>
                  <a:srgbClr val="1800FF"/>
                </a:solidFill>
                <a:latin typeface="Consolas" panose="020B0609020204030204" pitchFamily="49" charset="0"/>
              </a:rPr>
              <a:t>"</a:t>
            </a:r>
            <a:r>
              <a:rPr lang="en-US" sz="1140" b="1" kern="0" spc="10" dirty="0" err="1">
                <a:solidFill>
                  <a:srgbClr val="1800FF"/>
                </a:solidFill>
                <a:latin typeface="Consolas" panose="020B0609020204030204" pitchFamily="49" charset="0"/>
              </a:rPr>
              <a:t>accessToken</a:t>
            </a:r>
            <a:r>
              <a:rPr lang="en-US" sz="1140" b="1" kern="0" spc="10" dirty="0">
                <a:solidFill>
                  <a:srgbClr val="1800FF"/>
                </a:solidFill>
                <a:latin typeface="Consolas" panose="020B0609020204030204" pitchFamily="49" charset="0"/>
              </a:rPr>
              <a:t>"</a:t>
            </a:r>
            <a:r>
              <a:rPr lang="en-US" sz="1140" b="1" kern="0" spc="10" dirty="0">
                <a:solidFill>
                  <a:srgbClr val="363636"/>
                </a:solidFill>
                <a:latin typeface="Consolas" panose="020B0609020204030204" pitchFamily="49" charset="0"/>
              </a:rPr>
              <a:t>)).response();</a:t>
            </a:r>
          </a:p>
        </p:txBody>
      </p:sp>
      <p:pic>
        <p:nvPicPr>
          <p:cNvPr id="11" name="26">
            <a:hlinkClick r:id="" action="ppaction://media"/>
            <a:extLst>
              <a:ext uri="{FF2B5EF4-FFF2-40B4-BE49-F238E27FC236}">
                <a16:creationId xmlns:a16="http://schemas.microsoft.com/office/drawing/2014/main" id="{851B285F-0972-CC83-B48E-EDBE4B88E0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814429" y="488057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16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9500">
        <p159:morph option="byObject"/>
      </p:transition>
    </mc:Choice>
    <mc:Fallback>
      <p:transition spd="slow" advClick="0" advTm="19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4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7" grpId="0" animBg="1"/>
      <p:bldP spid="9" grpId="0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shot1">
            <a:extLst>
              <a:ext uri="{FF2B5EF4-FFF2-40B4-BE49-F238E27FC236}">
                <a16:creationId xmlns:a16="http://schemas.microsoft.com/office/drawing/2014/main" id="{63C3020E-2442-70F6-C938-1DFBED52C0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9815" y="0"/>
            <a:ext cx="9712370" cy="6857999"/>
          </a:xfrm>
          <a:prstGeom prst="rect">
            <a:avLst/>
          </a:prstGeom>
        </p:spPr>
      </p:pic>
      <p:sp>
        <p:nvSpPr>
          <p:cNvPr id="2" name="CaptionBackground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77915" y="4514175"/>
            <a:ext cx="962664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0FA31E97-215D-A7B3-DA80-42C932F11C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82665" y="4486193"/>
            <a:ext cx="9790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Both requests returned status code </a:t>
            </a:r>
            <a:r>
              <a:rPr lang="en-US" b="1" dirty="0">
                <a:solidFill>
                  <a:schemeClr val="accent1"/>
                </a:solidFill>
              </a:rPr>
              <a:t>200</a:t>
            </a:r>
            <a:r>
              <a:rPr lang="en-US" dirty="0">
                <a:solidFill>
                  <a:schemeClr val="accent1"/>
                </a:solidFill>
              </a:rPr>
              <a:t>. In the next video, we will review best practices for organizing multiple requests in TestNG. Thank you for watching, and I’ll see you in the next tutorial.</a:t>
            </a:r>
          </a:p>
        </p:txBody>
      </p:sp>
      <p:pic>
        <p:nvPicPr>
          <p:cNvPr id="6" name="27">
            <a:hlinkClick r:id="" action="ppaction://media"/>
            <a:extLst>
              <a:ext uri="{FF2B5EF4-FFF2-40B4-BE49-F238E27FC236}">
                <a16:creationId xmlns:a16="http://schemas.microsoft.com/office/drawing/2014/main" id="{E09FB932-A4BC-93AD-808E-A8D7B98CD6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48093" y="37242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32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4000">
        <p159:morph option="byObject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/>
    </p:bldLst>
  </p:timing>
  <p:extLst>
    <p:ext uri="{E180D4A7-C9FB-4DFB-919C-405C955672EB}">
      <p14:showEvtLst xmlns:p14="http://schemas.microsoft.com/office/powerpoint/2010/main">
        <p14:playEvt time="1" objId="5"/>
        <p14:stopEvt time="16782" objId="5"/>
      </p14:showEvt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7727</TotalTime>
  <Words>1448</Words>
  <Application>Microsoft Office PowerPoint</Application>
  <PresentationFormat>Widescreen</PresentationFormat>
  <Paragraphs>101</Paragraphs>
  <Slides>27</Slides>
  <Notes>8</Notes>
  <HiddenSlides>0</HiddenSlides>
  <MMClips>27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Gofman</dc:creator>
  <cp:lastModifiedBy>David Gofman</cp:lastModifiedBy>
  <cp:revision>78</cp:revision>
  <dcterms:created xsi:type="dcterms:W3CDTF">2026-05-22T19:03:47Z</dcterms:created>
  <dcterms:modified xsi:type="dcterms:W3CDTF">2026-05-28T18:45:26Z</dcterms:modified>
</cp:coreProperties>
</file>